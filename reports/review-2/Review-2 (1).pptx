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9" r:id="rId10"/>
    <p:sldId id="266" r:id="rId11"/>
    <p:sldId id="260"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71845" y="3065334"/>
            <a:ext cx="4317408" cy="1396014"/>
          </a:xfrm>
        </p:spPr>
        <p:txBody>
          <a:bodyPr/>
          <a:lstStyle/>
          <a:p>
            <a:pPr algn="l"/>
            <a:r>
              <a:rPr lang="en-US" sz="2000" dirty="0">
                <a:solidFill>
                  <a:srgbClr val="0070C0"/>
                </a:solidFill>
                <a:latin typeface="Eras Demi ITC" panose="020B0805030504020804" pitchFamily="34" charset="0"/>
                <a:cs typeface="Courier New" panose="02070309020205020404" pitchFamily="49" charset="0"/>
              </a:rPr>
              <a:t>Team Members:</a:t>
            </a:r>
          </a:p>
          <a:p>
            <a:pPr algn="l"/>
            <a:r>
              <a:rPr lang="en-US" sz="1600" dirty="0" err="1">
                <a:solidFill>
                  <a:srgbClr val="0070C0"/>
                </a:solidFill>
                <a:latin typeface="Lucida Sans Unicode" panose="020B0602030504020204" pitchFamily="34" charset="0"/>
                <a:cs typeface="Lucida Sans Unicode" panose="020B0602030504020204" pitchFamily="34" charset="0"/>
              </a:rPr>
              <a:t>Yasam</a:t>
            </a:r>
            <a:r>
              <a:rPr lang="en-US" sz="1600" dirty="0">
                <a:solidFill>
                  <a:srgbClr val="0070C0"/>
                </a:solidFill>
                <a:latin typeface="Lucida Sans Unicode" panose="020B0602030504020204" pitchFamily="34" charset="0"/>
                <a:cs typeface="Lucida Sans Unicode" panose="020B0602030504020204" pitchFamily="34" charset="0"/>
              </a:rPr>
              <a:t> Bhaarathi    (2520030211)</a:t>
            </a:r>
          </a:p>
          <a:p>
            <a:pPr algn="l"/>
            <a:r>
              <a:rPr lang="en-US" sz="1600" dirty="0" err="1">
                <a:solidFill>
                  <a:srgbClr val="0070C0"/>
                </a:solidFill>
                <a:latin typeface="Lucida Sans Unicode" panose="020B0602030504020204" pitchFamily="34" charset="0"/>
                <a:cs typeface="Lucida Sans Unicode" panose="020B0602030504020204" pitchFamily="34" charset="0"/>
              </a:rPr>
              <a:t>Alluru</a:t>
            </a:r>
            <a:r>
              <a:rPr lang="en-US" sz="1600" dirty="0">
                <a:solidFill>
                  <a:srgbClr val="0070C0"/>
                </a:solidFill>
                <a:latin typeface="Lucida Sans Unicode" panose="020B0602030504020204" pitchFamily="34" charset="0"/>
                <a:cs typeface="Lucida Sans Unicode" panose="020B0602030504020204" pitchFamily="34" charset="0"/>
              </a:rPr>
              <a:t> Akshaya      (2520030289)</a:t>
            </a:r>
          </a:p>
          <a:p>
            <a:pPr algn="l"/>
            <a:r>
              <a:rPr lang="en-US" sz="1600" dirty="0">
                <a:solidFill>
                  <a:srgbClr val="0070C0"/>
                </a:solidFill>
                <a:latin typeface="Lucida Sans Unicode" panose="020B0602030504020204" pitchFamily="34" charset="0"/>
                <a:cs typeface="Lucida Sans Unicode" panose="020B0602030504020204" pitchFamily="34" charset="0"/>
              </a:rPr>
              <a:t>Chada Hasika        (2520030372)</a:t>
            </a:r>
            <a:endParaRPr lang="en-US" sz="1600" dirty="0">
              <a:solidFill>
                <a:srgbClr val="0070C0"/>
              </a:solidFill>
            </a:endParaRPr>
          </a:p>
          <a:p>
            <a:pPr marL="171450" algn="l">
              <a:lnSpc>
                <a:spcPct val="107000"/>
              </a:lnSpc>
              <a:spcAft>
                <a:spcPts val="800"/>
              </a:spcAft>
            </a:pPr>
            <a:endParaRPr lang="en-US" sz="16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algn="l"/>
            <a:endParaRPr lang="en-US" sz="2000" dirty="0">
              <a:solidFill>
                <a:srgbClr val="0070C0"/>
              </a:solidFill>
            </a:endParaRPr>
          </a:p>
          <a:p>
            <a:pPr algn="l"/>
            <a:endParaRPr lang="en-US" sz="2000" b="1" dirty="0">
              <a:solidFill>
                <a:srgbClr val="C00000"/>
              </a:solidFill>
            </a:endParaRPr>
          </a:p>
        </p:txBody>
      </p:sp>
      <p:sp>
        <p:nvSpPr>
          <p:cNvPr id="4" name="TextBox 3">
            <a:extLst>
              <a:ext uri="{FF2B5EF4-FFF2-40B4-BE49-F238E27FC236}">
                <a16:creationId xmlns:a16="http://schemas.microsoft.com/office/drawing/2014/main" id="{3196D524-B3B4-6219-6D74-6810073AB256}"/>
              </a:ext>
            </a:extLst>
          </p:cNvPr>
          <p:cNvSpPr txBox="1"/>
          <p:nvPr/>
        </p:nvSpPr>
        <p:spPr>
          <a:xfrm>
            <a:off x="1449237" y="1875579"/>
            <a:ext cx="10092906" cy="1323439"/>
          </a:xfrm>
          <a:prstGeom prst="rect">
            <a:avLst/>
          </a:prstGeom>
          <a:noFill/>
        </p:spPr>
        <p:txBody>
          <a:bodyPr wrap="square" rtlCol="0">
            <a:spAutoFit/>
          </a:bodyPr>
          <a:lstStyle/>
          <a:p>
            <a:pPr algn="ctr"/>
            <a:r>
              <a:rPr lang="en-US" sz="4400" dirty="0">
                <a:latin typeface="Sitka Subheading Semibold" pitchFamily="2" charset="0"/>
              </a:rPr>
              <a:t>Legal Document Repository</a:t>
            </a:r>
            <a:br>
              <a:rPr lang="en-US" sz="4400" dirty="0">
                <a:latin typeface="Sitka Subheading Semibold" pitchFamily="2" charset="0"/>
              </a:rPr>
            </a:br>
            <a:r>
              <a:rPr lang="en-IN" dirty="0">
                <a:latin typeface="Tempus Sans ITC" panose="04020404030D07020202" pitchFamily="82" charset="0"/>
              </a:rPr>
              <a:t>Efficient Search and Retrieval of Legal Documents Using Advanced Data Structures and Algorithms</a:t>
            </a:r>
            <a:br>
              <a:rPr lang="en-IN" sz="4400" dirty="0">
                <a:latin typeface="Tempus Sans ITC" panose="04020404030D07020202" pitchFamily="82" charset="0"/>
              </a:rPr>
            </a:br>
            <a:endParaRPr lang="en-IN" dirty="0"/>
          </a:p>
        </p:txBody>
      </p:sp>
      <p:sp>
        <p:nvSpPr>
          <p:cNvPr id="5" name="TextBox 4">
            <a:extLst>
              <a:ext uri="{FF2B5EF4-FFF2-40B4-BE49-F238E27FC236}">
                <a16:creationId xmlns:a16="http://schemas.microsoft.com/office/drawing/2014/main" id="{C963C795-659D-4F7B-01AF-59E2DE1A6F57}"/>
              </a:ext>
            </a:extLst>
          </p:cNvPr>
          <p:cNvSpPr txBox="1"/>
          <p:nvPr/>
        </p:nvSpPr>
        <p:spPr>
          <a:xfrm>
            <a:off x="2430549" y="272995"/>
            <a:ext cx="9437298" cy="2123658"/>
          </a:xfrm>
          <a:prstGeom prst="rect">
            <a:avLst/>
          </a:prstGeom>
          <a:noFill/>
        </p:spPr>
        <p:txBody>
          <a:bodyPr wrap="square" rtlCol="0">
            <a:spAutoFit/>
          </a:bodyPr>
          <a:lstStyle/>
          <a:p>
            <a:pPr algn="ctr"/>
            <a:r>
              <a:rPr lang="en-US" sz="4400" b="1" dirty="0">
                <a:solidFill>
                  <a:srgbClr val="C00000"/>
                </a:solidFill>
                <a:latin typeface="Yu Gothic UI Semibold" panose="020B0700000000000000" pitchFamily="34" charset="-128"/>
                <a:ea typeface="Yu Gothic UI Semibold" panose="020B0700000000000000" pitchFamily="34" charset="-128"/>
              </a:rPr>
              <a:t>Data Structures and Algorithms -3 (25CS2103E)</a:t>
            </a:r>
            <a:br>
              <a:rPr lang="en-US" sz="4400" b="1" dirty="0">
                <a:solidFill>
                  <a:srgbClr val="C00000"/>
                </a:solidFill>
                <a:latin typeface="Yu Gothic UI Semibold" panose="020B0700000000000000" pitchFamily="34" charset="-128"/>
                <a:ea typeface="Yu Gothic UI Semibold" panose="020B0700000000000000" pitchFamily="34" charset="-128"/>
              </a:rPr>
            </a:br>
            <a:endParaRPr lang="en-IN" sz="4400" dirty="0">
              <a:latin typeface="Yu Gothic UI Semibold" panose="020B0700000000000000" pitchFamily="34" charset="-128"/>
              <a:ea typeface="Yu Gothic UI Semibold" panose="020B0700000000000000" pitchFamily="34" charset="-128"/>
            </a:endParaRPr>
          </a:p>
        </p:txBody>
      </p:sp>
      <p:sp>
        <p:nvSpPr>
          <p:cNvPr id="8" name="TextBox 7">
            <a:extLst>
              <a:ext uri="{FF2B5EF4-FFF2-40B4-BE49-F238E27FC236}">
                <a16:creationId xmlns:a16="http://schemas.microsoft.com/office/drawing/2014/main" id="{A56C849A-3A0E-2BAF-8CF6-1A953ABDACB8}"/>
              </a:ext>
            </a:extLst>
          </p:cNvPr>
          <p:cNvSpPr txBox="1"/>
          <p:nvPr/>
        </p:nvSpPr>
        <p:spPr>
          <a:xfrm>
            <a:off x="3803888" y="4774060"/>
            <a:ext cx="4986430" cy="1810945"/>
          </a:xfrm>
          <a:prstGeom prst="rect">
            <a:avLst/>
          </a:prstGeom>
          <a:noFill/>
        </p:spPr>
        <p:txBody>
          <a:bodyPr wrap="square" rtlCol="0">
            <a:spAutoFit/>
          </a:bodyPr>
          <a:lstStyle/>
          <a:p>
            <a:pPr marL="171450" algn="ctr">
              <a:lnSpc>
                <a:spcPct val="107000"/>
              </a:lnSpc>
              <a:spcAft>
                <a:spcPts val="800"/>
              </a:spcAft>
            </a:pP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marR="16510" algn="ctr">
              <a:spcBef>
                <a:spcPts val="805"/>
              </a:spcBef>
            </a:pPr>
            <a:r>
              <a:rPr lang="en-US" sz="2400" dirty="0">
                <a:latin typeface="Sitka Banner Semibold" pitchFamily="2" charset="0"/>
                <a:ea typeface="Times New Roman" panose="02020603050405020304" pitchFamily="18" charset="0"/>
              </a:rPr>
              <a:t>Dr. V. Sireesha</a:t>
            </a:r>
            <a:endParaRPr lang="en-IN" sz="2400" dirty="0">
              <a:latin typeface="Sitka Banner Semibold" pitchFamily="2" charset="0"/>
              <a:ea typeface="Times New Roman" panose="02020603050405020304" pitchFamily="18" charset="0"/>
            </a:endParaRPr>
          </a:p>
          <a:p>
            <a:pPr marR="16510" algn="ctr">
              <a:spcBef>
                <a:spcPts val="805"/>
              </a:spcBef>
            </a:pPr>
            <a:r>
              <a:rPr lang="en-US" sz="2400" spc="-10" dirty="0">
                <a:latin typeface="Sitka Banner Semibold" pitchFamily="2" charset="0"/>
                <a:ea typeface="Times New Roman" panose="02020603050405020304" pitchFamily="18" charset="0"/>
              </a:rPr>
              <a:t>Professor,</a:t>
            </a:r>
            <a:r>
              <a:rPr lang="en-US" sz="2400" spc="50" dirty="0">
                <a:latin typeface="Sitka Banner Semibold" pitchFamily="2" charset="0"/>
                <a:ea typeface="Times New Roman" panose="02020603050405020304" pitchFamily="18" charset="0"/>
              </a:rPr>
              <a:t> </a:t>
            </a:r>
            <a:r>
              <a:rPr lang="en-US" sz="2400" spc="-10" dirty="0">
                <a:latin typeface="Sitka Banner Semibold" pitchFamily="2" charset="0"/>
                <a:ea typeface="Times New Roman" panose="02020603050405020304" pitchFamily="18" charset="0"/>
              </a:rPr>
              <a:t>Department of CSE</a:t>
            </a:r>
            <a:endParaRPr lang="en-IN" sz="2400" dirty="0">
              <a:latin typeface="Sitka Banner Semibold" pitchFamily="2" charset="0"/>
              <a:ea typeface="Times New Roman" panose="02020603050405020304" pitchFamily="18" charset="0"/>
            </a:endParaRPr>
          </a:p>
          <a:p>
            <a:pPr algn="ctr"/>
            <a:endParaRPr lang="en-IN" dirty="0"/>
          </a:p>
        </p:txBody>
      </p:sp>
      <p:sp>
        <p:nvSpPr>
          <p:cNvPr id="9" name="TextBox 8">
            <a:extLst>
              <a:ext uri="{FF2B5EF4-FFF2-40B4-BE49-F238E27FC236}">
                <a16:creationId xmlns:a16="http://schemas.microsoft.com/office/drawing/2014/main" id="{B5403F74-0A91-5FE4-FA4E-8F582427F5C3}"/>
              </a:ext>
            </a:extLst>
          </p:cNvPr>
          <p:cNvSpPr txBox="1"/>
          <p:nvPr/>
        </p:nvSpPr>
        <p:spPr>
          <a:xfrm>
            <a:off x="8934685" y="3261019"/>
            <a:ext cx="2933162" cy="1200329"/>
          </a:xfrm>
          <a:prstGeom prst="rect">
            <a:avLst/>
          </a:prstGeom>
          <a:noFill/>
        </p:spPr>
        <p:txBody>
          <a:bodyPr wrap="square" rtlCol="0">
            <a:spAutoFit/>
          </a:bodyPr>
          <a:lstStyle/>
          <a:p>
            <a:pPr algn="r"/>
            <a:r>
              <a:rPr lang="en-US" sz="2400" dirty="0">
                <a:latin typeface="Tahoma" panose="020B0604030504040204" pitchFamily="34" charset="0"/>
                <a:ea typeface="Tahoma" panose="020B0604030504040204" pitchFamily="34" charset="0"/>
                <a:cs typeface="Tahoma" panose="020B0604030504040204" pitchFamily="34" charset="0"/>
              </a:rPr>
              <a:t>Section – 08</a:t>
            </a:r>
          </a:p>
          <a:p>
            <a:pPr algn="r"/>
            <a:r>
              <a:rPr lang="en-US" sz="2400" dirty="0">
                <a:latin typeface="Tahoma" panose="020B0604030504040204" pitchFamily="34" charset="0"/>
                <a:ea typeface="Tahoma" panose="020B0604030504040204" pitchFamily="34" charset="0"/>
                <a:cs typeface="Tahoma" panose="020B0604030504040204" pitchFamily="34" charset="0"/>
              </a:rPr>
              <a:t>Team no - 12</a:t>
            </a:r>
            <a:endParaRPr lang="en-IN" sz="2400" dirty="0">
              <a:latin typeface="Tahoma" panose="020B0604030504040204" pitchFamily="34" charset="0"/>
              <a:ea typeface="Tahoma" panose="020B0604030504040204" pitchFamily="34" charset="0"/>
              <a:cs typeface="Tahoma" panose="020B0604030504040204" pitchFamily="34" charset="0"/>
            </a:endParaRPr>
          </a:p>
          <a:p>
            <a:pPr algn="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14502"/>
            <a:ext cx="6142964" cy="5228996"/>
          </a:xfrm>
          <a:prstGeom prst="rect">
            <a:avLst/>
          </a:prstGeom>
          <a:noFill/>
        </p:spPr>
        <p:txBody>
          <a:bodyPr wrap="none" rtlCol="0">
            <a:spAutoFit/>
          </a:bodyPr>
          <a:lstStyle/>
          <a:p>
            <a:pPr marL="457200" indent="-457200" algn="just" rtl="0" eaLnBrk="1" fontAlgn="t" latinLnBrk="0" hangingPunct="1">
              <a:lnSpc>
                <a:spcPct val="150000"/>
              </a:lnSpc>
              <a:spcBef>
                <a:spcPts val="0"/>
              </a:spcBef>
              <a:spcAft>
                <a:spcPts val="0"/>
              </a:spcAft>
              <a:buFont typeface="Arial" panose="020B0604020202020204" pitchFamily="34" charset="0"/>
              <a:buChar char="•"/>
            </a:pPr>
            <a:r>
              <a:rPr lang="en-US" sz="2800" b="0" i="0" u="none" strike="noStrike" kern="1200" dirty="0">
                <a:solidFill>
                  <a:srgbClr val="000000"/>
                </a:solidFill>
                <a:effectLst/>
                <a:latin typeface="Calibri" panose="020F0502020204030204" pitchFamily="34" charset="0"/>
              </a:rPr>
              <a:t>Abstract</a:t>
            </a:r>
          </a:p>
          <a:p>
            <a:pPr marL="457200" indent="-457200" algn="just" rtl="0" eaLnBrk="1" fontAlgn="t" latinLnBrk="0" hangingPunct="1">
              <a:lnSpc>
                <a:spcPct val="150000"/>
              </a:lnSpc>
              <a:spcBef>
                <a:spcPts val="0"/>
              </a:spcBef>
              <a:spcAft>
                <a:spcPts val="0"/>
              </a:spcAft>
              <a:buFont typeface="Arial" panose="020B0604020202020204" pitchFamily="34" charset="0"/>
              <a:buChar char="•"/>
            </a:pPr>
            <a:r>
              <a:rPr lang="en-US" sz="2800" b="0" i="0" u="none" strike="noStrike" kern="1200" dirty="0">
                <a:solidFill>
                  <a:srgbClr val="000000"/>
                </a:solidFill>
                <a:effectLst/>
                <a:latin typeface="Calibri" panose="020F0502020204030204" pitchFamily="34" charset="0"/>
              </a:rPr>
              <a:t>Introduction</a:t>
            </a:r>
            <a:endParaRPr lang="en-IN" sz="2800" b="0" i="0" u="none" strike="noStrike" dirty="0">
              <a:effectLst/>
              <a:latin typeface="Arial" panose="020B0604020202020204" pitchFamily="34" charset="0"/>
            </a:endParaRPr>
          </a:p>
          <a:p>
            <a:pPr marL="457200" indent="-457200" algn="just" rtl="0" eaLnBrk="1" fontAlgn="t" latinLnBrk="0" hangingPunct="1">
              <a:lnSpc>
                <a:spcPct val="150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2800" b="0" i="0" u="none" strike="noStrike" dirty="0">
              <a:effectLst/>
              <a:latin typeface="Arial" panose="020B0604020202020204" pitchFamily="34" charset="0"/>
            </a:endParaRPr>
          </a:p>
          <a:p>
            <a:pPr marL="457200" indent="-457200" algn="just"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2800" b="0" i="0" u="none" strike="noStrike" dirty="0">
              <a:effectLst/>
              <a:latin typeface="Arial" panose="020B0604020202020204" pitchFamily="34" charset="0"/>
            </a:endParaRPr>
          </a:p>
          <a:p>
            <a:pPr marL="457200" indent="-457200" algn="just"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2800" b="0" i="0" u="none" strike="noStrike" dirty="0">
              <a:effectLst/>
              <a:latin typeface="Arial" panose="020B0604020202020204" pitchFamily="34" charset="0"/>
            </a:endParaRPr>
          </a:p>
          <a:p>
            <a:pPr marL="457200" indent="-457200" algn="just"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2800" b="0" i="0" u="none" strike="noStrike" dirty="0">
              <a:effectLst/>
              <a:latin typeface="Arial" panose="020B0604020202020204" pitchFamily="34" charset="0"/>
            </a:endParaRPr>
          </a:p>
          <a:p>
            <a:pPr marL="457200" indent="-457200" algn="just"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just"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2800" b="0" i="0" u="none" strike="noStrike" dirty="0">
              <a:effectLst/>
              <a:latin typeface="Arial" panose="020B0604020202020204" pitchFamily="34" charset="0"/>
            </a:endParaRPr>
          </a:p>
          <a:p>
            <a:pPr algn="just"/>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026E6C7E-1537-B95E-AB9A-0298E5E604D2}"/>
              </a:ext>
            </a:extLst>
          </p:cNvPr>
          <p:cNvSpPr txBox="1"/>
          <p:nvPr/>
        </p:nvSpPr>
        <p:spPr>
          <a:xfrm>
            <a:off x="933876" y="2857383"/>
            <a:ext cx="11100621" cy="2950808"/>
          </a:xfrm>
          <a:prstGeom prst="rect">
            <a:avLst/>
          </a:prstGeom>
          <a:noFill/>
        </p:spPr>
        <p:txBody>
          <a:bodyPr wrap="square">
            <a:spAutoFit/>
          </a:bodyPr>
          <a:lstStyle/>
          <a:p>
            <a:pPr>
              <a:lnSpc>
                <a:spcPct val="150000"/>
              </a:lnSpc>
            </a:pPr>
            <a:r>
              <a:rPr lang="en-IN" sz="1800" dirty="0">
                <a:latin typeface="Sitka Small" pitchFamily="2" charset="0"/>
              </a:rPr>
              <a:t>The Legal Document Repository is designed as a centralized platform that securely stores, organizes, indexes, and retrieves legal documents. By implementing efficient indexing techniques and advanced string-searching algorithms such as Knuth-Morris-Pratt (KMP), Rabin-Karp, and Boyer-Moore, the system enables faster and more accurate document retrieval. The repository also minimizes duplicate records, improves document organization, ensures secure access through authentication, and increases productivity for legal professionals.</a:t>
            </a:r>
          </a:p>
        </p:txBody>
      </p:sp>
      <p:sp>
        <p:nvSpPr>
          <p:cNvPr id="4" name="TextBox 3">
            <a:extLst>
              <a:ext uri="{FF2B5EF4-FFF2-40B4-BE49-F238E27FC236}">
                <a16:creationId xmlns:a16="http://schemas.microsoft.com/office/drawing/2014/main" id="{4DE33F1A-2934-D8F3-46CB-3CF7F5EBC2FC}"/>
              </a:ext>
            </a:extLst>
          </p:cNvPr>
          <p:cNvSpPr txBox="1"/>
          <p:nvPr/>
        </p:nvSpPr>
        <p:spPr>
          <a:xfrm>
            <a:off x="3019244" y="1173193"/>
            <a:ext cx="9092242" cy="2126864"/>
          </a:xfrm>
          <a:prstGeom prst="rect">
            <a:avLst/>
          </a:prstGeom>
          <a:noFill/>
        </p:spPr>
        <p:txBody>
          <a:bodyPr wrap="square" rtlCol="0">
            <a:spAutoFit/>
          </a:bodyPr>
          <a:lstStyle/>
          <a:p>
            <a:pPr>
              <a:lnSpc>
                <a:spcPct val="150000"/>
              </a:lnSpc>
            </a:pPr>
            <a:r>
              <a:rPr lang="en-IN" dirty="0">
                <a:latin typeface="Sitka Small" pitchFamily="2" charset="0"/>
              </a:rPr>
              <a:t>Law firms, courts, and legal organizations manage thousands of legal documents such as case files, contracts, affidavits, petitions, and judgments. Traditional document management systems often rely on manual filing or simple keyword searches, making document retrieval slow and inefficient.</a:t>
            </a:r>
          </a:p>
          <a:p>
            <a:pPr>
              <a:lnSpc>
                <a:spcPct val="150000"/>
              </a:lnSpc>
            </a:pPr>
            <a:endParaRPr lang="en-IN"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70C00381-55F7-79D8-D889-F82B37224F87}"/>
              </a:ext>
            </a:extLst>
          </p:cNvPr>
          <p:cNvSpPr txBox="1"/>
          <p:nvPr/>
        </p:nvSpPr>
        <p:spPr>
          <a:xfrm>
            <a:off x="261666" y="3139115"/>
            <a:ext cx="11806689" cy="33663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latin typeface="Sitka Small" pitchFamily="2" charset="0"/>
              </a:rPr>
              <a:t>The system allows users to quickly locate relevant legal records, view detailed case information, and identify related documents. It also maintains important case details such as case number, registration date and time, category, parties involved, witnesses, lawyers, judges, and case status.</a:t>
            </a:r>
          </a:p>
          <a:p>
            <a:pPr marL="285750" indent="-285750">
              <a:lnSpc>
                <a:spcPct val="150000"/>
              </a:lnSpc>
              <a:buFont typeface="Arial" panose="020B0604020202020204" pitchFamily="34" charset="0"/>
              <a:buChar char="•"/>
            </a:pPr>
            <a:r>
              <a:rPr lang="en-IN" dirty="0">
                <a:latin typeface="Sitka Small" pitchFamily="2" charset="0"/>
              </a:rPr>
              <a:t>The main aim of the project is to reduce the time and effort required to manage and retrieve legal documents, improve organization, and provide convenient access to important case information. This helps legal professionals handle records more effectively and supports faster legal research and case preparation.</a:t>
            </a:r>
          </a:p>
        </p:txBody>
      </p:sp>
      <p:sp>
        <p:nvSpPr>
          <p:cNvPr id="4" name="TextBox 3">
            <a:extLst>
              <a:ext uri="{FF2B5EF4-FFF2-40B4-BE49-F238E27FC236}">
                <a16:creationId xmlns:a16="http://schemas.microsoft.com/office/drawing/2014/main" id="{90FCA5AC-95D0-C1B4-EE95-51A4EB327CDF}"/>
              </a:ext>
            </a:extLst>
          </p:cNvPr>
          <p:cNvSpPr txBox="1"/>
          <p:nvPr/>
        </p:nvSpPr>
        <p:spPr>
          <a:xfrm>
            <a:off x="2993366" y="888521"/>
            <a:ext cx="9316527" cy="25423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Sitka Small" pitchFamily="2" charset="0"/>
              </a:rPr>
              <a:t>The Legal Document Repository is a digital system developed to help law firms, courts, and legal organizations manage large collections of legal documents efficiently. It provides a centralized platform for storing and organizing case records such as contracts, petitions, affidavits, judgments, and case files.</a:t>
            </a:r>
          </a:p>
          <a:p>
            <a:pPr marL="285750" indent="-285750">
              <a:lnSpc>
                <a:spcPct val="150000"/>
              </a:lnSpc>
              <a:buFont typeface="Arial" panose="020B0604020202020204" pitchFamily="34" charset="0"/>
              <a:buChar char="•"/>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10" name="Table 9">
            <a:extLst>
              <a:ext uri="{FF2B5EF4-FFF2-40B4-BE49-F238E27FC236}">
                <a16:creationId xmlns:a16="http://schemas.microsoft.com/office/drawing/2014/main" id="{43C5585C-8CA6-DE14-61D8-93DDA2882980}"/>
              </a:ext>
            </a:extLst>
          </p:cNvPr>
          <p:cNvGraphicFramePr>
            <a:graphicFrameLocks noGrp="1"/>
          </p:cNvGraphicFramePr>
          <p:nvPr>
            <p:extLst>
              <p:ext uri="{D42A27DB-BD31-4B8C-83A1-F6EECF244321}">
                <p14:modId xmlns:p14="http://schemas.microsoft.com/office/powerpoint/2010/main" val="2292652094"/>
              </p:ext>
            </p:extLst>
          </p:nvPr>
        </p:nvGraphicFramePr>
        <p:xfrm>
          <a:off x="523335" y="1071067"/>
          <a:ext cx="11145328" cy="5362306"/>
        </p:xfrm>
        <a:graphic>
          <a:graphicData uri="http://schemas.openxmlformats.org/drawingml/2006/table">
            <a:tbl>
              <a:tblPr>
                <a:tableStyleId>{00A15C55-8517-42AA-B614-E9B94910E393}</a:tableStyleId>
              </a:tblPr>
              <a:tblGrid>
                <a:gridCol w="2786332">
                  <a:extLst>
                    <a:ext uri="{9D8B030D-6E8A-4147-A177-3AD203B41FA5}">
                      <a16:colId xmlns:a16="http://schemas.microsoft.com/office/drawing/2014/main" val="2734790758"/>
                    </a:ext>
                  </a:extLst>
                </a:gridCol>
                <a:gridCol w="2786332">
                  <a:extLst>
                    <a:ext uri="{9D8B030D-6E8A-4147-A177-3AD203B41FA5}">
                      <a16:colId xmlns:a16="http://schemas.microsoft.com/office/drawing/2014/main" val="3777226792"/>
                    </a:ext>
                  </a:extLst>
                </a:gridCol>
                <a:gridCol w="2786332">
                  <a:extLst>
                    <a:ext uri="{9D8B030D-6E8A-4147-A177-3AD203B41FA5}">
                      <a16:colId xmlns:a16="http://schemas.microsoft.com/office/drawing/2014/main" val="2888983813"/>
                    </a:ext>
                  </a:extLst>
                </a:gridCol>
                <a:gridCol w="2786332">
                  <a:extLst>
                    <a:ext uri="{9D8B030D-6E8A-4147-A177-3AD203B41FA5}">
                      <a16:colId xmlns:a16="http://schemas.microsoft.com/office/drawing/2014/main" val="25415193"/>
                    </a:ext>
                  </a:extLst>
                </a:gridCol>
              </a:tblGrid>
              <a:tr h="388189">
                <a:tc>
                  <a:txBody>
                    <a:bodyPr/>
                    <a:lstStyle/>
                    <a:p>
                      <a:pPr algn="l">
                        <a:buNone/>
                      </a:pPr>
                      <a:r>
                        <a:rPr lang="en-IN" sz="1400" dirty="0">
                          <a:latin typeface="Arial Black" panose="020B0A04020102020204" pitchFamily="34" charset="0"/>
                        </a:rPr>
                        <a:t>Area</a:t>
                      </a:r>
                    </a:p>
                  </a:txBody>
                  <a:tcPr marL="59607" marR="59607" marT="29804" marB="29804" anchor="ctr"/>
                </a:tc>
                <a:tc>
                  <a:txBody>
                    <a:bodyPr/>
                    <a:lstStyle/>
                    <a:p>
                      <a:pPr algn="l">
                        <a:buNone/>
                      </a:pPr>
                      <a:r>
                        <a:rPr lang="en-IN" sz="1400" dirty="0">
                          <a:latin typeface="Arial Black" panose="020B0A04020102020204" pitchFamily="34" charset="0"/>
                        </a:rPr>
                        <a:t>Existing Approach</a:t>
                      </a:r>
                    </a:p>
                  </a:txBody>
                  <a:tcPr marL="59607" marR="59607" marT="29804" marB="29804" anchor="ctr"/>
                </a:tc>
                <a:tc>
                  <a:txBody>
                    <a:bodyPr/>
                    <a:lstStyle/>
                    <a:p>
                      <a:pPr algn="l">
                        <a:buNone/>
                      </a:pPr>
                      <a:r>
                        <a:rPr lang="en-IN" sz="1400" dirty="0">
                          <a:latin typeface="Arial Black" panose="020B0A04020102020204" pitchFamily="34" charset="0"/>
                        </a:rPr>
                        <a:t>Limitation</a:t>
                      </a:r>
                    </a:p>
                  </a:txBody>
                  <a:tcPr marL="59607" marR="59607" marT="29804" marB="29804" anchor="ctr"/>
                </a:tc>
                <a:tc>
                  <a:txBody>
                    <a:bodyPr/>
                    <a:lstStyle/>
                    <a:p>
                      <a:pPr algn="l">
                        <a:buNone/>
                      </a:pPr>
                      <a:r>
                        <a:rPr lang="en-IN" sz="1400" dirty="0">
                          <a:latin typeface="Arial Black" panose="020B0A04020102020204" pitchFamily="34" charset="0"/>
                        </a:rPr>
                        <a:t>Relevance to Our Project</a:t>
                      </a:r>
                    </a:p>
                  </a:txBody>
                  <a:tcPr marL="59607" marR="59607" marT="29804" marB="29804" anchor="ctr"/>
                </a:tc>
                <a:extLst>
                  <a:ext uri="{0D108BD9-81ED-4DB2-BD59-A6C34878D82A}">
                    <a16:rowId xmlns:a16="http://schemas.microsoft.com/office/drawing/2014/main" val="1463836975"/>
                  </a:ext>
                </a:extLst>
              </a:tr>
              <a:tr h="934680">
                <a:tc>
                  <a:txBody>
                    <a:bodyPr/>
                    <a:lstStyle/>
                    <a:p>
                      <a:pPr algn="l">
                        <a:buNone/>
                      </a:pPr>
                      <a:r>
                        <a:rPr lang="en-IN" sz="1400">
                          <a:latin typeface="Arial Black" panose="020B0A04020102020204" pitchFamily="34" charset="0"/>
                        </a:rPr>
                        <a:t>Legal Document Management</a:t>
                      </a:r>
                    </a:p>
                  </a:txBody>
                  <a:tcPr marL="59607" marR="59607" marT="29804" marB="29804" anchor="ctr"/>
                </a:tc>
                <a:tc>
                  <a:txBody>
                    <a:bodyPr/>
                    <a:lstStyle/>
                    <a:p>
                      <a:pPr algn="l">
                        <a:buNone/>
                      </a:pPr>
                      <a:r>
                        <a:rPr lang="en-IN" sz="1400" dirty="0">
                          <a:latin typeface="Baskerville Old Face" panose="02020602080505020303" pitchFamily="18" charset="0"/>
                        </a:rPr>
                        <a:t>Digital systems are used to store and organize legal records.</a:t>
                      </a:r>
                    </a:p>
                  </a:txBody>
                  <a:tcPr marL="59607" marR="59607" marT="29804" marB="29804" anchor="ctr"/>
                </a:tc>
                <a:tc>
                  <a:txBody>
                    <a:bodyPr/>
                    <a:lstStyle/>
                    <a:p>
                      <a:pPr algn="l">
                        <a:buNone/>
                      </a:pPr>
                      <a:r>
                        <a:rPr lang="en-IN" sz="1400">
                          <a:latin typeface="Baskerville Old Face" panose="02020602080505020303" pitchFamily="18" charset="0"/>
                        </a:rPr>
                        <a:t>Large collections can make retrieval difficult.</a:t>
                      </a:r>
                    </a:p>
                  </a:txBody>
                  <a:tcPr marL="59607" marR="59607" marT="29804" marB="29804" anchor="ctr"/>
                </a:tc>
                <a:tc>
                  <a:txBody>
                    <a:bodyPr/>
                    <a:lstStyle/>
                    <a:p>
                      <a:pPr algn="l">
                        <a:buNone/>
                      </a:pPr>
                      <a:r>
                        <a:rPr lang="en-IN" sz="1400">
                          <a:latin typeface="Baskerville Old Face" panose="02020602080505020303" pitchFamily="18" charset="0"/>
                        </a:rPr>
                        <a:t>Our system provides organized storage and access to case documents.</a:t>
                      </a:r>
                    </a:p>
                  </a:txBody>
                  <a:tcPr marL="59607" marR="59607" marT="29804" marB="29804" anchor="ctr"/>
                </a:tc>
                <a:extLst>
                  <a:ext uri="{0D108BD9-81ED-4DB2-BD59-A6C34878D82A}">
                    <a16:rowId xmlns:a16="http://schemas.microsoft.com/office/drawing/2014/main" val="2122477361"/>
                  </a:ext>
                </a:extLst>
              </a:tr>
              <a:tr h="934680">
                <a:tc>
                  <a:txBody>
                    <a:bodyPr/>
                    <a:lstStyle/>
                    <a:p>
                      <a:pPr algn="l">
                        <a:buNone/>
                      </a:pPr>
                      <a:r>
                        <a:rPr lang="en-IN" sz="1400" dirty="0">
                          <a:latin typeface="Arial Black" panose="020B0A04020102020204" pitchFamily="34" charset="0"/>
                        </a:rPr>
                        <a:t>Pattern Matching</a:t>
                      </a:r>
                    </a:p>
                  </a:txBody>
                  <a:tcPr marL="59607" marR="59607" marT="29804" marB="29804" anchor="ctr"/>
                </a:tc>
                <a:tc>
                  <a:txBody>
                    <a:bodyPr/>
                    <a:lstStyle/>
                    <a:p>
                      <a:pPr algn="l">
                        <a:buNone/>
                      </a:pPr>
                      <a:r>
                        <a:rPr lang="en-IN" sz="1400">
                          <a:latin typeface="Baskerville Old Face" panose="02020602080505020303" pitchFamily="18" charset="0"/>
                        </a:rPr>
                        <a:t>Keyword-based searching is commonly used to locate information in documents.</a:t>
                      </a:r>
                    </a:p>
                  </a:txBody>
                  <a:tcPr marL="59607" marR="59607" marT="29804" marB="29804" anchor="ctr"/>
                </a:tc>
                <a:tc>
                  <a:txBody>
                    <a:bodyPr/>
                    <a:lstStyle/>
                    <a:p>
                      <a:pPr algn="l">
                        <a:buNone/>
                      </a:pPr>
                      <a:r>
                        <a:rPr lang="en-IN" sz="1400">
                          <a:latin typeface="Baskerville Old Face" panose="02020602080505020303" pitchFamily="18" charset="0"/>
                        </a:rPr>
                        <a:t>Basic searching can be inefficient for large text.</a:t>
                      </a:r>
                    </a:p>
                  </a:txBody>
                  <a:tcPr marL="59607" marR="59607" marT="29804" marB="29804" anchor="ctr"/>
                </a:tc>
                <a:tc>
                  <a:txBody>
                    <a:bodyPr/>
                    <a:lstStyle/>
                    <a:p>
                      <a:pPr algn="l">
                        <a:buNone/>
                      </a:pPr>
                      <a:r>
                        <a:rPr lang="en-IN" sz="1400" dirty="0">
                          <a:latin typeface="Baskerville Old Face" panose="02020602080505020303" pitchFamily="18" charset="0"/>
                        </a:rPr>
                        <a:t>KMP is implemented for faster exact keyword matching.</a:t>
                      </a:r>
                    </a:p>
                  </a:txBody>
                  <a:tcPr marL="59607" marR="59607" marT="29804" marB="29804" anchor="ctr"/>
                </a:tc>
                <a:extLst>
                  <a:ext uri="{0D108BD9-81ED-4DB2-BD59-A6C34878D82A}">
                    <a16:rowId xmlns:a16="http://schemas.microsoft.com/office/drawing/2014/main" val="1499542201"/>
                  </a:ext>
                </a:extLst>
              </a:tr>
              <a:tr h="732107">
                <a:tc>
                  <a:txBody>
                    <a:bodyPr/>
                    <a:lstStyle/>
                    <a:p>
                      <a:pPr algn="l">
                        <a:buNone/>
                      </a:pPr>
                      <a:r>
                        <a:rPr lang="en-IN" sz="1400">
                          <a:latin typeface="Arial Black" panose="020B0A04020102020204" pitchFamily="34" charset="0"/>
                        </a:rPr>
                        <a:t>Fuzzy Search</a:t>
                      </a:r>
                    </a:p>
                  </a:txBody>
                  <a:tcPr marL="59607" marR="59607" marT="29804" marB="29804" anchor="ctr"/>
                </a:tc>
                <a:tc>
                  <a:txBody>
                    <a:bodyPr/>
                    <a:lstStyle/>
                    <a:p>
                      <a:pPr algn="l">
                        <a:buNone/>
                      </a:pPr>
                      <a:r>
                        <a:rPr lang="en-IN" sz="1400">
                          <a:latin typeface="Baskerville Old Face" panose="02020602080505020303" pitchFamily="18" charset="0"/>
                        </a:rPr>
                        <a:t>Approximate matching can handle spelling variations in user queries.</a:t>
                      </a:r>
                    </a:p>
                  </a:txBody>
                  <a:tcPr marL="59607" marR="59607" marT="29804" marB="29804" anchor="ctr"/>
                </a:tc>
                <a:tc>
                  <a:txBody>
                    <a:bodyPr/>
                    <a:lstStyle/>
                    <a:p>
                      <a:pPr algn="l">
                        <a:buNone/>
                      </a:pPr>
                      <a:r>
                        <a:rPr lang="en-IN" sz="1400">
                          <a:latin typeface="Baskerville Old Face" panose="02020602080505020303" pitchFamily="18" charset="0"/>
                        </a:rPr>
                        <a:t>Exact search cannot identify misspelled terms.</a:t>
                      </a:r>
                    </a:p>
                  </a:txBody>
                  <a:tcPr marL="59607" marR="59607" marT="29804" marB="29804" anchor="ctr"/>
                </a:tc>
                <a:tc>
                  <a:txBody>
                    <a:bodyPr/>
                    <a:lstStyle/>
                    <a:p>
                      <a:pPr algn="l">
                        <a:buNone/>
                      </a:pPr>
                      <a:r>
                        <a:rPr lang="en-IN" sz="1400">
                          <a:latin typeface="Baskerville Old Face" panose="02020602080505020303" pitchFamily="18" charset="0"/>
                        </a:rPr>
                        <a:t>Levenshtein Edit Distance suggests similar words.</a:t>
                      </a:r>
                    </a:p>
                  </a:txBody>
                  <a:tcPr marL="59607" marR="59607" marT="29804" marB="29804" anchor="ctr"/>
                </a:tc>
                <a:extLst>
                  <a:ext uri="{0D108BD9-81ED-4DB2-BD59-A6C34878D82A}">
                    <a16:rowId xmlns:a16="http://schemas.microsoft.com/office/drawing/2014/main" val="773026843"/>
                  </a:ext>
                </a:extLst>
              </a:tr>
              <a:tr h="718985">
                <a:tc>
                  <a:txBody>
                    <a:bodyPr/>
                    <a:lstStyle/>
                    <a:p>
                      <a:pPr algn="l">
                        <a:buNone/>
                      </a:pPr>
                      <a:r>
                        <a:rPr lang="en-IN" sz="1400" dirty="0">
                          <a:latin typeface="Arial Black" panose="020B0A04020102020204" pitchFamily="34" charset="0"/>
                        </a:rPr>
                        <a:t>Document Similarity</a:t>
                      </a:r>
                    </a:p>
                  </a:txBody>
                  <a:tcPr marL="59607" marR="59607" marT="29804" marB="29804" anchor="ctr"/>
                </a:tc>
                <a:tc>
                  <a:txBody>
                    <a:bodyPr/>
                    <a:lstStyle/>
                    <a:p>
                      <a:pPr algn="l">
                        <a:buNone/>
                      </a:pPr>
                      <a:r>
                        <a:rPr lang="en-IN" sz="1400">
                          <a:latin typeface="Baskerville Old Face" panose="02020602080505020303" pitchFamily="18" charset="0"/>
                        </a:rPr>
                        <a:t>Similarity methods compare common terms between documents.</a:t>
                      </a:r>
                    </a:p>
                  </a:txBody>
                  <a:tcPr marL="59607" marR="59607" marT="29804" marB="29804" anchor="ctr"/>
                </a:tc>
                <a:tc>
                  <a:txBody>
                    <a:bodyPr/>
                    <a:lstStyle/>
                    <a:p>
                      <a:pPr algn="l">
                        <a:buNone/>
                      </a:pPr>
                      <a:r>
                        <a:rPr lang="en-IN" sz="1400">
                          <a:latin typeface="Baskerville Old Face" panose="02020602080505020303" pitchFamily="18" charset="0"/>
                        </a:rPr>
                        <a:t>Finding related legal documents manually is difficult.</a:t>
                      </a:r>
                    </a:p>
                  </a:txBody>
                  <a:tcPr marL="59607" marR="59607" marT="29804" marB="29804" anchor="ctr"/>
                </a:tc>
                <a:tc>
                  <a:txBody>
                    <a:bodyPr/>
                    <a:lstStyle/>
                    <a:p>
                      <a:pPr algn="l">
                        <a:buNone/>
                      </a:pPr>
                      <a:r>
                        <a:rPr lang="en-IN" sz="1400" dirty="0">
                          <a:latin typeface="Baskerville Old Face" panose="02020602080505020303" pitchFamily="18" charset="0"/>
                        </a:rPr>
                        <a:t>Jaccard Similarity identifies similar case documents.</a:t>
                      </a:r>
                    </a:p>
                  </a:txBody>
                  <a:tcPr marL="59607" marR="59607" marT="29804" marB="29804" anchor="ctr"/>
                </a:tc>
                <a:extLst>
                  <a:ext uri="{0D108BD9-81ED-4DB2-BD59-A6C34878D82A}">
                    <a16:rowId xmlns:a16="http://schemas.microsoft.com/office/drawing/2014/main" val="2277761843"/>
                  </a:ext>
                </a:extLst>
              </a:tr>
              <a:tr h="718985">
                <a:tc>
                  <a:txBody>
                    <a:bodyPr/>
                    <a:lstStyle/>
                    <a:p>
                      <a:pPr algn="l">
                        <a:buNone/>
                      </a:pPr>
                      <a:r>
                        <a:rPr lang="en-IN" sz="1400">
                          <a:latin typeface="Arial Black" panose="020B0A04020102020204" pitchFamily="34" charset="0"/>
                        </a:rPr>
                        <a:t>File-Based Storage</a:t>
                      </a:r>
                    </a:p>
                  </a:txBody>
                  <a:tcPr marL="59607" marR="59607" marT="29804" marB="29804" anchor="ctr"/>
                </a:tc>
                <a:tc>
                  <a:txBody>
                    <a:bodyPr/>
                    <a:lstStyle/>
                    <a:p>
                      <a:pPr algn="l">
                        <a:buNone/>
                      </a:pPr>
                      <a:r>
                        <a:rPr lang="en-IN" sz="1400">
                          <a:latin typeface="Baskerville Old Face" panose="02020602080505020303" pitchFamily="18" charset="0"/>
                        </a:rPr>
                        <a:t>Documents can be maintained as separate digital files.</a:t>
                      </a:r>
                    </a:p>
                  </a:txBody>
                  <a:tcPr marL="59607" marR="59607" marT="29804" marB="29804" anchor="ctr"/>
                </a:tc>
                <a:tc>
                  <a:txBody>
                    <a:bodyPr/>
                    <a:lstStyle/>
                    <a:p>
                      <a:pPr algn="l">
                        <a:buNone/>
                      </a:pPr>
                      <a:r>
                        <a:rPr lang="en-IN" sz="1400">
                          <a:latin typeface="Baskerville Old Face" panose="02020602080505020303" pitchFamily="18" charset="0"/>
                        </a:rPr>
                        <a:t>Managing many files manually can become difficult.</a:t>
                      </a:r>
                    </a:p>
                  </a:txBody>
                  <a:tcPr marL="59607" marR="59607" marT="29804" marB="29804" anchor="ctr"/>
                </a:tc>
                <a:tc>
                  <a:txBody>
                    <a:bodyPr/>
                    <a:lstStyle/>
                    <a:p>
                      <a:pPr algn="l">
                        <a:buNone/>
                      </a:pPr>
                      <a:r>
                        <a:rPr lang="en-IN" sz="1400">
                          <a:latin typeface="Baskerville Old Face" panose="02020602080505020303" pitchFamily="18" charset="0"/>
                        </a:rPr>
                        <a:t>The project uses .txt** files** to store case records and details.</a:t>
                      </a:r>
                    </a:p>
                  </a:txBody>
                  <a:tcPr marL="59607" marR="59607" marT="29804" marB="29804" anchor="ctr"/>
                </a:tc>
                <a:extLst>
                  <a:ext uri="{0D108BD9-81ED-4DB2-BD59-A6C34878D82A}">
                    <a16:rowId xmlns:a16="http://schemas.microsoft.com/office/drawing/2014/main" val="4015745146"/>
                  </a:ext>
                </a:extLst>
              </a:tr>
              <a:tr h="934680">
                <a:tc>
                  <a:txBody>
                    <a:bodyPr/>
                    <a:lstStyle/>
                    <a:p>
                      <a:pPr algn="l">
                        <a:buNone/>
                      </a:pPr>
                      <a:r>
                        <a:rPr lang="en-IN" sz="1400" dirty="0">
                          <a:latin typeface="Arial Black" panose="020B0A04020102020204" pitchFamily="34" charset="0"/>
                        </a:rPr>
                        <a:t>Legal Case Retrieval</a:t>
                      </a:r>
                    </a:p>
                  </a:txBody>
                  <a:tcPr marL="59607" marR="59607" marT="29804" marB="29804" anchor="ctr"/>
                </a:tc>
                <a:tc>
                  <a:txBody>
                    <a:bodyPr/>
                    <a:lstStyle/>
                    <a:p>
                      <a:pPr algn="l">
                        <a:buNone/>
                      </a:pPr>
                      <a:r>
                        <a:rPr lang="en-IN" sz="1400">
                          <a:latin typeface="Baskerville Old Face" panose="02020602080505020303" pitchFamily="18" charset="0"/>
                        </a:rPr>
                        <a:t>Users search through case information to find relevant records.</a:t>
                      </a:r>
                    </a:p>
                  </a:txBody>
                  <a:tcPr marL="59607" marR="59607" marT="29804" marB="29804" anchor="ctr"/>
                </a:tc>
                <a:tc>
                  <a:txBody>
                    <a:bodyPr/>
                    <a:lstStyle/>
                    <a:p>
                      <a:pPr algn="l">
                        <a:buNone/>
                      </a:pPr>
                      <a:r>
                        <a:rPr lang="en-IN" sz="1400" dirty="0">
                          <a:latin typeface="Baskerville Old Face" panose="02020602080505020303" pitchFamily="18" charset="0"/>
                        </a:rPr>
                        <a:t>Searching different records can take time.</a:t>
                      </a:r>
                    </a:p>
                  </a:txBody>
                  <a:tcPr marL="59607" marR="59607" marT="29804" marB="29804" anchor="ctr"/>
                </a:tc>
                <a:tc>
                  <a:txBody>
                    <a:bodyPr/>
                    <a:lstStyle/>
                    <a:p>
                      <a:pPr algn="l">
                        <a:buNone/>
                      </a:pPr>
                      <a:r>
                        <a:rPr lang="en-IN" sz="1400" dirty="0">
                          <a:latin typeface="Baskerville Old Face" panose="02020602080505020303" pitchFamily="18" charset="0"/>
                        </a:rPr>
                        <a:t>The system provides a centralized way to search and view legal documents.</a:t>
                      </a:r>
                    </a:p>
                  </a:txBody>
                  <a:tcPr marL="59607" marR="59607" marT="29804" marB="29804" anchor="ctr"/>
                </a:tc>
                <a:extLst>
                  <a:ext uri="{0D108BD9-81ED-4DB2-BD59-A6C34878D82A}">
                    <a16:rowId xmlns:a16="http://schemas.microsoft.com/office/drawing/2014/main" val="289977893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85F412C6-70FA-3E43-E177-0001504B8997}"/>
              </a:ext>
            </a:extLst>
          </p:cNvPr>
          <p:cNvSpPr txBox="1"/>
          <p:nvPr/>
        </p:nvSpPr>
        <p:spPr>
          <a:xfrm>
            <a:off x="528622" y="3280622"/>
            <a:ext cx="10245214" cy="2862322"/>
          </a:xfrm>
          <a:prstGeom prst="rect">
            <a:avLst/>
          </a:prstGeom>
          <a:noFill/>
        </p:spPr>
        <p:txBody>
          <a:bodyPr wrap="square">
            <a:spAutoFit/>
          </a:bodyPr>
          <a:lstStyle/>
          <a:p>
            <a:pPr lvl="0"/>
            <a:endParaRPr lang="en-IN" dirty="0">
              <a:latin typeface="Sitka Small" pitchFamily="2" charset="0"/>
            </a:endParaRPr>
          </a:p>
          <a:p>
            <a:pPr>
              <a:buNone/>
            </a:pPr>
            <a:r>
              <a:rPr lang="en-IN" b="1" dirty="0">
                <a:latin typeface="Sitka Small" pitchFamily="2" charset="0"/>
              </a:rPr>
              <a:t>Need:</a:t>
            </a:r>
            <a:r>
              <a:rPr lang="en-IN" dirty="0">
                <a:latin typeface="Sitka Small" pitchFamily="2" charset="0"/>
              </a:rPr>
              <a:t> A secure and efficient system for quick and accurate legal document retrieval.</a:t>
            </a:r>
          </a:p>
          <a:p>
            <a:pPr>
              <a:buNone/>
            </a:pPr>
            <a:endParaRPr lang="en-IN" dirty="0">
              <a:latin typeface="Sitka Small" pitchFamily="2" charset="0"/>
            </a:endParaRPr>
          </a:p>
          <a:p>
            <a:pPr>
              <a:buNone/>
            </a:pPr>
            <a:r>
              <a:rPr lang="en-IN" b="1" dirty="0">
                <a:latin typeface="Sitka Small" pitchFamily="2" charset="0"/>
              </a:rPr>
              <a:t>Objectives</a:t>
            </a:r>
          </a:p>
          <a:p>
            <a:pPr marL="342900" lvl="0" indent="-342900">
              <a:buFont typeface="Arial" panose="020B0604020202020204" pitchFamily="34" charset="0"/>
              <a:buChar char="•"/>
            </a:pPr>
            <a:r>
              <a:rPr lang="en-IN" dirty="0">
                <a:latin typeface="Sitka Small" pitchFamily="2" charset="0"/>
              </a:rPr>
              <a:t>Store and organize legal documents systematically. </a:t>
            </a:r>
          </a:p>
          <a:p>
            <a:pPr marL="342900" lvl="0" indent="-342900">
              <a:buFont typeface="Arial" panose="020B0604020202020204" pitchFamily="34" charset="0"/>
              <a:buChar char="•"/>
            </a:pPr>
            <a:r>
              <a:rPr lang="en-IN" dirty="0">
                <a:latin typeface="Sitka Small" pitchFamily="2" charset="0"/>
              </a:rPr>
              <a:t>Provide fast and accurate document searching. </a:t>
            </a:r>
          </a:p>
          <a:p>
            <a:pPr marL="342900" lvl="0" indent="-342900">
              <a:buFont typeface="Arial" panose="020B0604020202020204" pitchFamily="34" charset="0"/>
              <a:buChar char="•"/>
            </a:pPr>
            <a:r>
              <a:rPr lang="en-IN" dirty="0">
                <a:latin typeface="Sitka Small" pitchFamily="2" charset="0"/>
              </a:rPr>
              <a:t>Support searches with spelling mistakes. </a:t>
            </a:r>
          </a:p>
          <a:p>
            <a:pPr marL="342900" lvl="0" indent="-342900">
              <a:buFont typeface="Arial" panose="020B0604020202020204" pitchFamily="34" charset="0"/>
              <a:buChar char="•"/>
            </a:pPr>
            <a:r>
              <a:rPr lang="en-IN" dirty="0">
                <a:latin typeface="Sitka Small" pitchFamily="2" charset="0"/>
              </a:rPr>
              <a:t>Identify similar and related documents. </a:t>
            </a:r>
          </a:p>
          <a:p>
            <a:pPr marL="342900" lvl="0" indent="-342900">
              <a:buFont typeface="Arial" panose="020B0604020202020204" pitchFamily="34" charset="0"/>
              <a:buChar char="•"/>
            </a:pPr>
            <a:r>
              <a:rPr lang="en-IN" dirty="0">
                <a:latin typeface="Sitka Small" pitchFamily="2" charset="0"/>
              </a:rPr>
              <a:t>Maintain complete case information. </a:t>
            </a:r>
          </a:p>
          <a:p>
            <a:pPr marL="342900" lvl="0" indent="-342900">
              <a:buFont typeface="Arial" panose="020B0604020202020204" pitchFamily="34" charset="0"/>
              <a:buChar char="•"/>
            </a:pPr>
            <a:r>
              <a:rPr lang="en-IN" dirty="0">
                <a:latin typeface="Sitka Small" pitchFamily="2" charset="0"/>
              </a:rPr>
              <a:t>Provide simple and convenient document access. </a:t>
            </a:r>
          </a:p>
        </p:txBody>
      </p:sp>
      <p:sp>
        <p:nvSpPr>
          <p:cNvPr id="4" name="TextBox 3">
            <a:extLst>
              <a:ext uri="{FF2B5EF4-FFF2-40B4-BE49-F238E27FC236}">
                <a16:creationId xmlns:a16="http://schemas.microsoft.com/office/drawing/2014/main" id="{2B44C972-BEBE-203A-0B11-DC2F66180A5F}"/>
              </a:ext>
            </a:extLst>
          </p:cNvPr>
          <p:cNvSpPr txBox="1"/>
          <p:nvPr/>
        </p:nvSpPr>
        <p:spPr>
          <a:xfrm>
            <a:off x="3088257" y="1301832"/>
            <a:ext cx="7953555" cy="2308324"/>
          </a:xfrm>
          <a:prstGeom prst="rect">
            <a:avLst/>
          </a:prstGeom>
          <a:noFill/>
        </p:spPr>
        <p:txBody>
          <a:bodyPr wrap="square" rtlCol="0">
            <a:spAutoFit/>
          </a:bodyPr>
          <a:lstStyle/>
          <a:p>
            <a:pPr>
              <a:buNone/>
            </a:pPr>
            <a:r>
              <a:rPr lang="en-IN" b="1" dirty="0">
                <a:latin typeface="Sitka Small" pitchFamily="2" charset="0"/>
              </a:rPr>
              <a:t>Problem Statement</a:t>
            </a:r>
          </a:p>
          <a:p>
            <a:pPr marL="342900" lvl="0" indent="-342900">
              <a:buFont typeface="Arial" panose="020B0604020202020204" pitchFamily="34" charset="0"/>
              <a:buChar char="•"/>
            </a:pPr>
            <a:r>
              <a:rPr lang="en-IN" dirty="0">
                <a:latin typeface="Sitka Small" pitchFamily="2" charset="0"/>
              </a:rPr>
              <a:t>Legal organizations manage large volumes of documents. </a:t>
            </a:r>
          </a:p>
          <a:p>
            <a:pPr marL="342900" lvl="0" indent="-342900">
              <a:buFont typeface="Arial" panose="020B0604020202020204" pitchFamily="34" charset="0"/>
              <a:buChar char="•"/>
            </a:pPr>
            <a:r>
              <a:rPr lang="en-IN" dirty="0">
                <a:latin typeface="Sitka Small" pitchFamily="2" charset="0"/>
              </a:rPr>
              <a:t>Manual searching is time-consuming and inefficient. </a:t>
            </a:r>
          </a:p>
          <a:p>
            <a:pPr marL="342900" lvl="0" indent="-342900">
              <a:buFont typeface="Arial" panose="020B0604020202020204" pitchFamily="34" charset="0"/>
              <a:buChar char="•"/>
            </a:pPr>
            <a:r>
              <a:rPr lang="en-IN" dirty="0">
                <a:latin typeface="Sitka Small" pitchFamily="2" charset="0"/>
              </a:rPr>
              <a:t>Spelling errors can lead to unsuccessful searches. </a:t>
            </a:r>
          </a:p>
          <a:p>
            <a:pPr marL="342900" lvl="0" indent="-342900">
              <a:buFont typeface="Arial" panose="020B0604020202020204" pitchFamily="34" charset="0"/>
              <a:buChar char="•"/>
            </a:pPr>
            <a:r>
              <a:rPr lang="en-IN" dirty="0">
                <a:latin typeface="Sitka Small" pitchFamily="2" charset="0"/>
              </a:rPr>
              <a:t>Finding related documents is difficult. </a:t>
            </a:r>
          </a:p>
          <a:p>
            <a:pPr marL="342900" lvl="0" indent="-342900">
              <a:buFont typeface="Arial" panose="020B0604020202020204" pitchFamily="34" charset="0"/>
              <a:buChar char="•"/>
            </a:pPr>
            <a:r>
              <a:rPr lang="en-IN" dirty="0">
                <a:latin typeface="Sitka Small" pitchFamily="2" charset="0"/>
              </a:rPr>
              <a:t>Poor organization delays legal research. </a:t>
            </a:r>
          </a:p>
          <a:p>
            <a:pPr marL="342900" lvl="0" indent="-342900">
              <a:buFont typeface="Arial" panose="020B0604020202020204" pitchFamily="34" charset="0"/>
              <a:buChar char="•"/>
            </a:pPr>
            <a:r>
              <a:rPr lang="en-IN" dirty="0">
                <a:latin typeface="Sitka Small" pitchFamily="2" charset="0"/>
              </a:rPr>
              <a:t>Secure management of confidential records is essential. </a:t>
            </a:r>
          </a:p>
          <a:p>
            <a:endParaRPr lang="en-IN"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7ADBD221-BC61-97C0-D866-0828B5F23797}"/>
              </a:ext>
            </a:extLst>
          </p:cNvPr>
          <p:cNvPicPr>
            <a:picLocks noChangeAspect="1"/>
          </p:cNvPicPr>
          <p:nvPr/>
        </p:nvPicPr>
        <p:blipFill>
          <a:blip r:embed="rId2"/>
          <a:stretch>
            <a:fillRect/>
          </a:stretch>
        </p:blipFill>
        <p:spPr>
          <a:xfrm>
            <a:off x="3071004" y="806448"/>
            <a:ext cx="8358996" cy="58600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6" name="Picture 5">
            <a:extLst>
              <a:ext uri="{FF2B5EF4-FFF2-40B4-BE49-F238E27FC236}">
                <a16:creationId xmlns:a16="http://schemas.microsoft.com/office/drawing/2014/main" id="{C113DC7E-56E1-C173-2DFB-06EAF6AB0CE7}"/>
              </a:ext>
            </a:extLst>
          </p:cNvPr>
          <p:cNvPicPr>
            <a:picLocks noChangeAspect="1"/>
          </p:cNvPicPr>
          <p:nvPr/>
        </p:nvPicPr>
        <p:blipFill>
          <a:blip r:embed="rId2"/>
          <a:stretch>
            <a:fillRect/>
          </a:stretch>
        </p:blipFill>
        <p:spPr>
          <a:xfrm>
            <a:off x="169022" y="994131"/>
            <a:ext cx="3244001" cy="2292604"/>
          </a:xfrm>
          <a:prstGeom prst="rect">
            <a:avLst/>
          </a:prstGeom>
        </p:spPr>
      </p:pic>
      <p:pic>
        <p:nvPicPr>
          <p:cNvPr id="9" name="Picture 8">
            <a:extLst>
              <a:ext uri="{FF2B5EF4-FFF2-40B4-BE49-F238E27FC236}">
                <a16:creationId xmlns:a16="http://schemas.microsoft.com/office/drawing/2014/main" id="{6B7DD73F-D527-BE1C-E91D-EF689BCA46C4}"/>
              </a:ext>
            </a:extLst>
          </p:cNvPr>
          <p:cNvPicPr>
            <a:picLocks noChangeAspect="1"/>
          </p:cNvPicPr>
          <p:nvPr/>
        </p:nvPicPr>
        <p:blipFill>
          <a:blip r:embed="rId3"/>
          <a:stretch>
            <a:fillRect/>
          </a:stretch>
        </p:blipFill>
        <p:spPr>
          <a:xfrm>
            <a:off x="3736109" y="949602"/>
            <a:ext cx="3177090" cy="2513792"/>
          </a:xfrm>
          <a:prstGeom prst="rect">
            <a:avLst/>
          </a:prstGeom>
        </p:spPr>
      </p:pic>
      <p:pic>
        <p:nvPicPr>
          <p:cNvPr id="11" name="Picture 10">
            <a:extLst>
              <a:ext uri="{FF2B5EF4-FFF2-40B4-BE49-F238E27FC236}">
                <a16:creationId xmlns:a16="http://schemas.microsoft.com/office/drawing/2014/main" id="{8D586B43-2BAF-8F1D-F143-957EFCE070E5}"/>
              </a:ext>
            </a:extLst>
          </p:cNvPr>
          <p:cNvPicPr>
            <a:picLocks noChangeAspect="1"/>
          </p:cNvPicPr>
          <p:nvPr/>
        </p:nvPicPr>
        <p:blipFill>
          <a:blip r:embed="rId4"/>
          <a:stretch>
            <a:fillRect/>
          </a:stretch>
        </p:blipFill>
        <p:spPr>
          <a:xfrm>
            <a:off x="7815663" y="806448"/>
            <a:ext cx="3432527" cy="2437592"/>
          </a:xfrm>
          <a:prstGeom prst="rect">
            <a:avLst/>
          </a:prstGeom>
        </p:spPr>
      </p:pic>
      <p:pic>
        <p:nvPicPr>
          <p:cNvPr id="13" name="Picture 12">
            <a:extLst>
              <a:ext uri="{FF2B5EF4-FFF2-40B4-BE49-F238E27FC236}">
                <a16:creationId xmlns:a16="http://schemas.microsoft.com/office/drawing/2014/main" id="{2FE490FA-4D63-403A-6980-F6660FB92464}"/>
              </a:ext>
            </a:extLst>
          </p:cNvPr>
          <p:cNvPicPr>
            <a:picLocks noChangeAspect="1"/>
          </p:cNvPicPr>
          <p:nvPr/>
        </p:nvPicPr>
        <p:blipFill>
          <a:blip r:embed="rId5"/>
          <a:stretch>
            <a:fillRect/>
          </a:stretch>
        </p:blipFill>
        <p:spPr>
          <a:xfrm>
            <a:off x="277177" y="3429000"/>
            <a:ext cx="2772407" cy="3207327"/>
          </a:xfrm>
          <a:prstGeom prst="rect">
            <a:avLst/>
          </a:prstGeom>
        </p:spPr>
      </p:pic>
      <p:pic>
        <p:nvPicPr>
          <p:cNvPr id="15" name="Picture 14">
            <a:extLst>
              <a:ext uri="{FF2B5EF4-FFF2-40B4-BE49-F238E27FC236}">
                <a16:creationId xmlns:a16="http://schemas.microsoft.com/office/drawing/2014/main" id="{BF948040-FF32-F7CD-D35B-A1DAFD5EF420}"/>
              </a:ext>
            </a:extLst>
          </p:cNvPr>
          <p:cNvPicPr>
            <a:picLocks noChangeAspect="1"/>
          </p:cNvPicPr>
          <p:nvPr/>
        </p:nvPicPr>
        <p:blipFill>
          <a:blip r:embed="rId6"/>
          <a:stretch>
            <a:fillRect/>
          </a:stretch>
        </p:blipFill>
        <p:spPr>
          <a:xfrm>
            <a:off x="3648045" y="3667826"/>
            <a:ext cx="3461001" cy="2729673"/>
          </a:xfrm>
          <a:prstGeom prst="rect">
            <a:avLst/>
          </a:prstGeom>
        </p:spPr>
      </p:pic>
      <p:pic>
        <p:nvPicPr>
          <p:cNvPr id="17" name="Picture 16">
            <a:extLst>
              <a:ext uri="{FF2B5EF4-FFF2-40B4-BE49-F238E27FC236}">
                <a16:creationId xmlns:a16="http://schemas.microsoft.com/office/drawing/2014/main" id="{FCA53310-10AC-B8CB-2D6C-4D5D37D3416D}"/>
              </a:ext>
            </a:extLst>
          </p:cNvPr>
          <p:cNvPicPr>
            <a:picLocks noChangeAspect="1"/>
          </p:cNvPicPr>
          <p:nvPr/>
        </p:nvPicPr>
        <p:blipFill>
          <a:blip r:embed="rId7"/>
          <a:stretch>
            <a:fillRect/>
          </a:stretch>
        </p:blipFill>
        <p:spPr>
          <a:xfrm>
            <a:off x="7815663" y="3437752"/>
            <a:ext cx="3019602" cy="3122680"/>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F6C35B-B80F-1CE7-8055-7FBAF45B2283}"/>
              </a:ext>
            </a:extLst>
          </p:cNvPr>
          <p:cNvPicPr>
            <a:picLocks noChangeAspect="1"/>
          </p:cNvPicPr>
          <p:nvPr/>
        </p:nvPicPr>
        <p:blipFill>
          <a:blip r:embed="rId2"/>
          <a:stretch>
            <a:fillRect/>
          </a:stretch>
        </p:blipFill>
        <p:spPr>
          <a:xfrm>
            <a:off x="3848447" y="3651347"/>
            <a:ext cx="4428801" cy="2881592"/>
          </a:xfrm>
          <a:prstGeom prst="rect">
            <a:avLst/>
          </a:prstGeom>
        </p:spPr>
      </p:pic>
      <p:pic>
        <p:nvPicPr>
          <p:cNvPr id="5" name="Picture 4">
            <a:extLst>
              <a:ext uri="{FF2B5EF4-FFF2-40B4-BE49-F238E27FC236}">
                <a16:creationId xmlns:a16="http://schemas.microsoft.com/office/drawing/2014/main" id="{D9A5A4F2-7A79-3B9E-CF44-3492CD687E49}"/>
              </a:ext>
            </a:extLst>
          </p:cNvPr>
          <p:cNvPicPr>
            <a:picLocks noChangeAspect="1"/>
          </p:cNvPicPr>
          <p:nvPr/>
        </p:nvPicPr>
        <p:blipFill>
          <a:blip r:embed="rId3"/>
          <a:stretch>
            <a:fillRect/>
          </a:stretch>
        </p:blipFill>
        <p:spPr>
          <a:xfrm>
            <a:off x="8477927" y="4157050"/>
            <a:ext cx="3512455" cy="2078672"/>
          </a:xfrm>
          <a:prstGeom prst="rect">
            <a:avLst/>
          </a:prstGeom>
        </p:spPr>
      </p:pic>
      <p:pic>
        <p:nvPicPr>
          <p:cNvPr id="7" name="Picture 6">
            <a:extLst>
              <a:ext uri="{FF2B5EF4-FFF2-40B4-BE49-F238E27FC236}">
                <a16:creationId xmlns:a16="http://schemas.microsoft.com/office/drawing/2014/main" id="{E9EE0CD5-D961-6324-AD65-BDB819F0557E}"/>
              </a:ext>
            </a:extLst>
          </p:cNvPr>
          <p:cNvPicPr>
            <a:picLocks noChangeAspect="1"/>
          </p:cNvPicPr>
          <p:nvPr/>
        </p:nvPicPr>
        <p:blipFill>
          <a:blip r:embed="rId4"/>
          <a:stretch>
            <a:fillRect/>
          </a:stretch>
        </p:blipFill>
        <p:spPr>
          <a:xfrm>
            <a:off x="258652" y="3233608"/>
            <a:ext cx="3389116" cy="3477792"/>
          </a:xfrm>
          <a:prstGeom prst="rect">
            <a:avLst/>
          </a:prstGeom>
        </p:spPr>
      </p:pic>
      <p:pic>
        <p:nvPicPr>
          <p:cNvPr id="9" name="Picture 8">
            <a:extLst>
              <a:ext uri="{FF2B5EF4-FFF2-40B4-BE49-F238E27FC236}">
                <a16:creationId xmlns:a16="http://schemas.microsoft.com/office/drawing/2014/main" id="{0370A8F8-22EC-8DA1-4EB1-6334373B3B1A}"/>
              </a:ext>
            </a:extLst>
          </p:cNvPr>
          <p:cNvPicPr>
            <a:picLocks noChangeAspect="1"/>
          </p:cNvPicPr>
          <p:nvPr/>
        </p:nvPicPr>
        <p:blipFill>
          <a:blip r:embed="rId5"/>
          <a:stretch>
            <a:fillRect/>
          </a:stretch>
        </p:blipFill>
        <p:spPr>
          <a:xfrm>
            <a:off x="8277248" y="366640"/>
            <a:ext cx="3472300" cy="3029283"/>
          </a:xfrm>
          <a:prstGeom prst="rect">
            <a:avLst/>
          </a:prstGeom>
        </p:spPr>
      </p:pic>
      <p:pic>
        <p:nvPicPr>
          <p:cNvPr id="11" name="Picture 10">
            <a:extLst>
              <a:ext uri="{FF2B5EF4-FFF2-40B4-BE49-F238E27FC236}">
                <a16:creationId xmlns:a16="http://schemas.microsoft.com/office/drawing/2014/main" id="{5FE4D737-F202-E4FC-7F50-DADCDD5A0BCB}"/>
              </a:ext>
            </a:extLst>
          </p:cNvPr>
          <p:cNvPicPr>
            <a:picLocks noChangeAspect="1"/>
          </p:cNvPicPr>
          <p:nvPr/>
        </p:nvPicPr>
        <p:blipFill>
          <a:blip r:embed="rId6"/>
          <a:stretch>
            <a:fillRect/>
          </a:stretch>
        </p:blipFill>
        <p:spPr>
          <a:xfrm>
            <a:off x="4978293" y="325061"/>
            <a:ext cx="2667116" cy="2908547"/>
          </a:xfrm>
          <a:prstGeom prst="rect">
            <a:avLst/>
          </a:prstGeom>
        </p:spPr>
      </p:pic>
      <p:pic>
        <p:nvPicPr>
          <p:cNvPr id="13" name="Picture 12">
            <a:extLst>
              <a:ext uri="{FF2B5EF4-FFF2-40B4-BE49-F238E27FC236}">
                <a16:creationId xmlns:a16="http://schemas.microsoft.com/office/drawing/2014/main" id="{6B22434D-F251-CA5D-1C78-3C6B5D04C3F2}"/>
              </a:ext>
            </a:extLst>
          </p:cNvPr>
          <p:cNvPicPr>
            <a:picLocks noChangeAspect="1"/>
          </p:cNvPicPr>
          <p:nvPr/>
        </p:nvPicPr>
        <p:blipFill>
          <a:blip r:embed="rId7"/>
          <a:stretch>
            <a:fillRect/>
          </a:stretch>
        </p:blipFill>
        <p:spPr>
          <a:xfrm>
            <a:off x="2045111" y="426943"/>
            <a:ext cx="2667116" cy="2720907"/>
          </a:xfrm>
          <a:prstGeom prst="rect">
            <a:avLst/>
          </a:prstGeom>
        </p:spPr>
      </p:pic>
    </p:spTree>
    <p:extLst>
      <p:ext uri="{BB962C8B-B14F-4D97-AF65-F5344CB8AC3E}">
        <p14:creationId xmlns:p14="http://schemas.microsoft.com/office/powerpoint/2010/main" val="3762769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5" name="Table 4">
            <a:extLst>
              <a:ext uri="{FF2B5EF4-FFF2-40B4-BE49-F238E27FC236}">
                <a16:creationId xmlns:a16="http://schemas.microsoft.com/office/drawing/2014/main" id="{16374038-B865-40E1-968E-D48CA10DA459}"/>
              </a:ext>
            </a:extLst>
          </p:cNvPr>
          <p:cNvGraphicFramePr>
            <a:graphicFrameLocks noGrp="1"/>
          </p:cNvGraphicFramePr>
          <p:nvPr>
            <p:extLst>
              <p:ext uri="{D42A27DB-BD31-4B8C-83A1-F6EECF244321}">
                <p14:modId xmlns:p14="http://schemas.microsoft.com/office/powerpoint/2010/main" val="1579630353"/>
              </p:ext>
            </p:extLst>
          </p:nvPr>
        </p:nvGraphicFramePr>
        <p:xfrm>
          <a:off x="3148642" y="1690777"/>
          <a:ext cx="8117456" cy="4382220"/>
        </p:xfrm>
        <a:graphic>
          <a:graphicData uri="http://schemas.openxmlformats.org/drawingml/2006/table">
            <a:tbl>
              <a:tblPr>
                <a:tableStyleId>{00A15C55-8517-42AA-B614-E9B94910E393}</a:tableStyleId>
              </a:tblPr>
              <a:tblGrid>
                <a:gridCol w="2615322">
                  <a:extLst>
                    <a:ext uri="{9D8B030D-6E8A-4147-A177-3AD203B41FA5}">
                      <a16:colId xmlns:a16="http://schemas.microsoft.com/office/drawing/2014/main" val="3598817312"/>
                    </a:ext>
                  </a:extLst>
                </a:gridCol>
                <a:gridCol w="2751067">
                  <a:extLst>
                    <a:ext uri="{9D8B030D-6E8A-4147-A177-3AD203B41FA5}">
                      <a16:colId xmlns:a16="http://schemas.microsoft.com/office/drawing/2014/main" val="1240130477"/>
                    </a:ext>
                  </a:extLst>
                </a:gridCol>
                <a:gridCol w="2751067">
                  <a:extLst>
                    <a:ext uri="{9D8B030D-6E8A-4147-A177-3AD203B41FA5}">
                      <a16:colId xmlns:a16="http://schemas.microsoft.com/office/drawing/2014/main" val="1283230648"/>
                    </a:ext>
                  </a:extLst>
                </a:gridCol>
              </a:tblGrid>
              <a:tr h="620762">
                <a:tc>
                  <a:txBody>
                    <a:bodyPr/>
                    <a:lstStyle/>
                    <a:p>
                      <a:pPr>
                        <a:buNone/>
                      </a:pPr>
                      <a:r>
                        <a:rPr lang="en-IN" b="1"/>
                        <a:t>Hardware Requirements</a:t>
                      </a:r>
                      <a:endParaRPr lang="en-IN" b="1">
                        <a:latin typeface="Comic Sans MS" panose="030F0702030302020204" pitchFamily="66" charset="0"/>
                      </a:endParaRPr>
                    </a:p>
                  </a:txBody>
                  <a:tcPr anchor="ctr"/>
                </a:tc>
                <a:tc>
                  <a:txBody>
                    <a:bodyPr/>
                    <a:lstStyle/>
                    <a:p>
                      <a:pPr>
                        <a:buNone/>
                      </a:pPr>
                      <a:r>
                        <a:rPr lang="en-IN" b="1"/>
                        <a:t>Software Requirements</a:t>
                      </a:r>
                      <a:endParaRPr lang="en-IN" b="1">
                        <a:latin typeface="Comic Sans MS" panose="030F0702030302020204" pitchFamily="66" charset="0"/>
                      </a:endParaRPr>
                    </a:p>
                  </a:txBody>
                  <a:tcPr anchor="ctr"/>
                </a:tc>
                <a:tc>
                  <a:txBody>
                    <a:bodyPr/>
                    <a:lstStyle/>
                    <a:p>
                      <a:pPr>
                        <a:buNone/>
                      </a:pPr>
                      <a:r>
                        <a:rPr lang="en-IN" b="1" dirty="0"/>
                        <a:t>Development Tools</a:t>
                      </a:r>
                      <a:endParaRPr lang="en-IN" b="1" dirty="0">
                        <a:latin typeface="Comic Sans MS" panose="030F0702030302020204" pitchFamily="66" charset="0"/>
                      </a:endParaRPr>
                    </a:p>
                  </a:txBody>
                  <a:tcPr anchor="ctr"/>
                </a:tc>
                <a:extLst>
                  <a:ext uri="{0D108BD9-81ED-4DB2-BD59-A6C34878D82A}">
                    <a16:rowId xmlns:a16="http://schemas.microsoft.com/office/drawing/2014/main" val="940771178"/>
                  </a:ext>
                </a:extLst>
              </a:tr>
              <a:tr h="1086334">
                <a:tc>
                  <a:txBody>
                    <a:bodyPr/>
                    <a:lstStyle/>
                    <a:p>
                      <a:pPr>
                        <a:buNone/>
                      </a:pPr>
                      <a:r>
                        <a:rPr lang="en-IN" dirty="0"/>
                        <a:t>Intel Core i3 or above</a:t>
                      </a:r>
                    </a:p>
                  </a:txBody>
                  <a:tcPr anchor="ctr"/>
                </a:tc>
                <a:tc>
                  <a:txBody>
                    <a:bodyPr/>
                    <a:lstStyle/>
                    <a:p>
                      <a:pPr>
                        <a:buNone/>
                      </a:pPr>
                      <a:r>
                        <a:rPr lang="en-IN"/>
                        <a:t>Windows 10/11, Linux, or macOS</a:t>
                      </a:r>
                    </a:p>
                  </a:txBody>
                  <a:tcPr anchor="ctr"/>
                </a:tc>
                <a:tc>
                  <a:txBody>
                    <a:bodyPr/>
                    <a:lstStyle/>
                    <a:p>
                      <a:pPr>
                        <a:buNone/>
                      </a:pPr>
                      <a:r>
                        <a:rPr lang="en-IN" dirty="0"/>
                        <a:t>Java</a:t>
                      </a:r>
                    </a:p>
                  </a:txBody>
                  <a:tcPr anchor="ctr"/>
                </a:tc>
                <a:extLst>
                  <a:ext uri="{0D108BD9-81ED-4DB2-BD59-A6C34878D82A}">
                    <a16:rowId xmlns:a16="http://schemas.microsoft.com/office/drawing/2014/main" val="3492048012"/>
                  </a:ext>
                </a:extLst>
              </a:tr>
              <a:tr h="620762">
                <a:tc>
                  <a:txBody>
                    <a:bodyPr/>
                    <a:lstStyle/>
                    <a:p>
                      <a:pPr>
                        <a:buNone/>
                      </a:pPr>
                      <a:r>
                        <a:rPr lang="en-IN"/>
                        <a:t>4 GB RAM or above</a:t>
                      </a:r>
                    </a:p>
                  </a:txBody>
                  <a:tcPr anchor="ctr"/>
                </a:tc>
                <a:tc>
                  <a:txBody>
                    <a:bodyPr/>
                    <a:lstStyle/>
                    <a:p>
                      <a:pPr>
                        <a:buNone/>
                      </a:pPr>
                      <a:r>
                        <a:rPr lang="en-IN"/>
                        <a:t>JDK 8 or above</a:t>
                      </a:r>
                    </a:p>
                  </a:txBody>
                  <a:tcPr anchor="ctr"/>
                </a:tc>
                <a:tc>
                  <a:txBody>
                    <a:bodyPr/>
                    <a:lstStyle/>
                    <a:p>
                      <a:pPr>
                        <a:buNone/>
                      </a:pPr>
                      <a:r>
                        <a:rPr lang="en-IN"/>
                        <a:t>Eclipse / IntelliJ / NetBeans</a:t>
                      </a:r>
                    </a:p>
                  </a:txBody>
                  <a:tcPr anchor="ctr"/>
                </a:tc>
                <a:extLst>
                  <a:ext uri="{0D108BD9-81ED-4DB2-BD59-A6C34878D82A}">
                    <a16:rowId xmlns:a16="http://schemas.microsoft.com/office/drawing/2014/main" val="2386628200"/>
                  </a:ext>
                </a:extLst>
              </a:tr>
              <a:tr h="620762">
                <a:tc>
                  <a:txBody>
                    <a:bodyPr/>
                    <a:lstStyle/>
                    <a:p>
                      <a:pPr>
                        <a:buNone/>
                      </a:pPr>
                      <a:r>
                        <a:rPr lang="en-IN"/>
                        <a:t>500 MB free storage</a:t>
                      </a:r>
                    </a:p>
                  </a:txBody>
                  <a:tcPr anchor="ctr"/>
                </a:tc>
                <a:tc>
                  <a:txBody>
                    <a:bodyPr/>
                    <a:lstStyle/>
                    <a:p>
                      <a:pPr>
                        <a:buNone/>
                      </a:pPr>
                      <a:r>
                        <a:rPr lang="en-IN"/>
                        <a:t>Java Standard Libraries</a:t>
                      </a:r>
                    </a:p>
                  </a:txBody>
                  <a:tcPr anchor="ctr"/>
                </a:tc>
                <a:tc>
                  <a:txBody>
                    <a:bodyPr/>
                    <a:lstStyle/>
                    <a:p>
                      <a:pPr>
                        <a:buNone/>
                      </a:pPr>
                      <a:r>
                        <a:rPr lang="en-IN"/>
                        <a:t>VS Code</a:t>
                      </a:r>
                    </a:p>
                  </a:txBody>
                  <a:tcPr anchor="ctr"/>
                </a:tc>
                <a:extLst>
                  <a:ext uri="{0D108BD9-81ED-4DB2-BD59-A6C34878D82A}">
                    <a16:rowId xmlns:a16="http://schemas.microsoft.com/office/drawing/2014/main" val="2699156582"/>
                  </a:ext>
                </a:extLst>
              </a:tr>
              <a:tr h="716800">
                <a:tc>
                  <a:txBody>
                    <a:bodyPr/>
                    <a:lstStyle/>
                    <a:p>
                      <a:pPr>
                        <a:buNone/>
                      </a:pPr>
                      <a:r>
                        <a:rPr lang="en-IN"/>
                        <a:t>Standard Keyboard &amp; Mouse</a:t>
                      </a:r>
                    </a:p>
                  </a:txBody>
                  <a:tcPr anchor="ctr"/>
                </a:tc>
                <a:tc>
                  <a:txBody>
                    <a:bodyPr/>
                    <a:lstStyle/>
                    <a:p>
                      <a:pPr>
                        <a:buNone/>
                      </a:pPr>
                      <a:r>
                        <a:rPr lang="en-IN"/>
                        <a:t>File Handling (.txt)</a:t>
                      </a:r>
                    </a:p>
                  </a:txBody>
                  <a:tcPr anchor="ctr"/>
                </a:tc>
                <a:tc>
                  <a:txBody>
                    <a:bodyPr/>
                    <a:lstStyle/>
                    <a:p>
                      <a:pPr>
                        <a:buNone/>
                      </a:pPr>
                      <a:r>
                        <a:rPr lang="en-IN"/>
                        <a:t>Console-based Application</a:t>
                      </a:r>
                    </a:p>
                  </a:txBody>
                  <a:tcPr anchor="ctr"/>
                </a:tc>
                <a:extLst>
                  <a:ext uri="{0D108BD9-81ED-4DB2-BD59-A6C34878D82A}">
                    <a16:rowId xmlns:a16="http://schemas.microsoft.com/office/drawing/2014/main" val="2651017010"/>
                  </a:ext>
                </a:extLst>
              </a:tr>
              <a:tr h="716800">
                <a:tc>
                  <a:txBody>
                    <a:bodyPr/>
                    <a:lstStyle/>
                    <a:p>
                      <a:pPr>
                        <a:buNone/>
                      </a:pPr>
                      <a:r>
                        <a:rPr lang="en-IN"/>
                        <a:t>Standard Monitor</a:t>
                      </a:r>
                    </a:p>
                  </a:txBody>
                  <a:tcPr anchor="ctr"/>
                </a:tc>
                <a:tc>
                  <a:txBody>
                    <a:bodyPr/>
                    <a:lstStyle/>
                    <a:p>
                      <a:pPr>
                        <a:buNone/>
                      </a:pPr>
                      <a:r>
                        <a:rPr lang="en-IN"/>
                        <a:t>Java I/O Support</a:t>
                      </a:r>
                    </a:p>
                  </a:txBody>
                  <a:tcPr anchor="ctr"/>
                </a:tc>
                <a:tc>
                  <a:txBody>
                    <a:bodyPr/>
                    <a:lstStyle/>
                    <a:p>
                      <a:pPr>
                        <a:buNone/>
                      </a:pPr>
                      <a:r>
                        <a:rPr lang="en-IN" dirty="0"/>
                        <a:t>Java Development Environment</a:t>
                      </a:r>
                    </a:p>
                  </a:txBody>
                  <a:tcPr anchor="ctr"/>
                </a:tc>
                <a:extLst>
                  <a:ext uri="{0D108BD9-81ED-4DB2-BD59-A6C34878D82A}">
                    <a16:rowId xmlns:a16="http://schemas.microsoft.com/office/drawing/2014/main" val="1145739172"/>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9C82EE48-498A-7A1F-10D2-551F6867CB9A}"/>
              </a:ext>
            </a:extLst>
          </p:cNvPr>
          <p:cNvSpPr txBox="1"/>
          <p:nvPr/>
        </p:nvSpPr>
        <p:spPr>
          <a:xfrm>
            <a:off x="3005129" y="4754005"/>
            <a:ext cx="8813060" cy="1200329"/>
          </a:xfrm>
          <a:prstGeom prst="rect">
            <a:avLst/>
          </a:prstGeom>
          <a:noFill/>
        </p:spPr>
        <p:txBody>
          <a:bodyPr wrap="square">
            <a:spAutoFit/>
          </a:bodyPr>
          <a:lstStyle/>
          <a:p>
            <a:pPr marL="285750" indent="-285750">
              <a:buFont typeface="Arial" panose="020B0604020202020204" pitchFamily="34" charset="0"/>
              <a:buChar char="•"/>
            </a:pPr>
            <a:r>
              <a:rPr lang="en-IN" dirty="0">
                <a:latin typeface="Sitka Small" pitchFamily="2" charset="0"/>
              </a:rPr>
              <a:t>Overall, the project demonstrates how a simple and user-friendly legal document management system can improve document organization, retrieval, and accessibility for law firms, courts, and other legal organizations.</a:t>
            </a:r>
          </a:p>
        </p:txBody>
      </p:sp>
      <p:sp>
        <p:nvSpPr>
          <p:cNvPr id="4" name="TextBox 3">
            <a:extLst>
              <a:ext uri="{FF2B5EF4-FFF2-40B4-BE49-F238E27FC236}">
                <a16:creationId xmlns:a16="http://schemas.microsoft.com/office/drawing/2014/main" id="{2D9A9665-50F7-4A08-AF8B-384B6CEBA7B1}"/>
              </a:ext>
            </a:extLst>
          </p:cNvPr>
          <p:cNvSpPr txBox="1"/>
          <p:nvPr/>
        </p:nvSpPr>
        <p:spPr>
          <a:xfrm>
            <a:off x="3005129" y="1409886"/>
            <a:ext cx="8813060" cy="147732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Sitka Small" pitchFamily="2" charset="0"/>
              </a:rPr>
              <a:t>The Legal Document Repository provides an efficient and organized solution for managing large volumes of legal records. It helps users store, search, retrieve, and compare documents while maintaining important case information in a structured manner.</a:t>
            </a:r>
          </a:p>
          <a:p>
            <a:pPr marL="285750" indent="-285750">
              <a:buFont typeface="Arial" panose="020B0604020202020204" pitchFamily="34" charset="0"/>
              <a:buChar char="•"/>
            </a:pPr>
            <a:endParaRPr lang="en-IN" dirty="0"/>
          </a:p>
        </p:txBody>
      </p:sp>
      <p:sp>
        <p:nvSpPr>
          <p:cNvPr id="6" name="TextBox 5">
            <a:extLst>
              <a:ext uri="{FF2B5EF4-FFF2-40B4-BE49-F238E27FC236}">
                <a16:creationId xmlns:a16="http://schemas.microsoft.com/office/drawing/2014/main" id="{5907E499-61EF-2E8B-6ABA-FD1E2757F3F4}"/>
              </a:ext>
            </a:extLst>
          </p:cNvPr>
          <p:cNvSpPr txBox="1"/>
          <p:nvPr/>
        </p:nvSpPr>
        <p:spPr>
          <a:xfrm>
            <a:off x="3005129" y="3017035"/>
            <a:ext cx="8813060" cy="147732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Sitka Small" pitchFamily="2" charset="0"/>
              </a:rPr>
              <a:t>The system reduces the effort and time required to locate relevant legal documents and makes case information easier to access. It also provides support for spelling variations and identification of related documents, making the retrieval process more effective.</a:t>
            </a:r>
          </a:p>
          <a:p>
            <a:pPr marL="285750" indent="-285750">
              <a:buFont typeface="Arial" panose="020B0604020202020204" pitchFamily="34" charset="0"/>
              <a:buChar char="•"/>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24BA1264-7270-8DFF-C55D-A7F85BDD94FE}"/>
              </a:ext>
            </a:extLst>
          </p:cNvPr>
          <p:cNvSpPr txBox="1"/>
          <p:nvPr/>
        </p:nvSpPr>
        <p:spPr>
          <a:xfrm>
            <a:off x="2817242" y="840530"/>
            <a:ext cx="8655889" cy="586333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b="1" dirty="0">
                <a:latin typeface="Comic Sans MS" panose="030F0702030302020204" pitchFamily="66" charset="0"/>
              </a:rPr>
              <a:t>Multiple Algorithms</a:t>
            </a:r>
            <a:r>
              <a:rPr lang="en-IN" dirty="0">
                <a:latin typeface="Comic Sans MS" panose="030F0702030302020204" pitchFamily="66" charset="0"/>
              </a:rPr>
              <a:t> – Implement and compare </a:t>
            </a:r>
            <a:r>
              <a:rPr lang="en-IN" b="1" dirty="0">
                <a:latin typeface="Comic Sans MS" panose="030F0702030302020204" pitchFamily="66" charset="0"/>
              </a:rPr>
              <a:t>KMP, Rabin-Karp, Boyer-Moore, and Suffix Array</a:t>
            </a:r>
            <a:r>
              <a:rPr lang="en-IN" dirty="0">
                <a:latin typeface="Comic Sans MS" panose="030F0702030302020204" pitchFamily="66" charset="0"/>
              </a:rPr>
              <a:t> algorithms. </a:t>
            </a:r>
          </a:p>
          <a:p>
            <a:pPr marL="342900" lvl="0" indent="-342900">
              <a:lnSpc>
                <a:spcPct val="150000"/>
              </a:lnSpc>
              <a:buFont typeface="Arial" panose="020B0604020202020204" pitchFamily="34" charset="0"/>
              <a:buChar char="•"/>
            </a:pPr>
            <a:r>
              <a:rPr lang="en-IN" b="1" dirty="0">
                <a:latin typeface="Comic Sans MS" panose="030F0702030302020204" pitchFamily="66" charset="0"/>
              </a:rPr>
              <a:t>Advanced Search</a:t>
            </a:r>
            <a:r>
              <a:rPr lang="en-IN" dirty="0">
                <a:latin typeface="Comic Sans MS" panose="030F0702030302020204" pitchFamily="66" charset="0"/>
              </a:rPr>
              <a:t> – Search using </a:t>
            </a:r>
            <a:r>
              <a:rPr lang="en-IN" b="1" dirty="0">
                <a:latin typeface="Comic Sans MS" panose="030F0702030302020204" pitchFamily="66" charset="0"/>
              </a:rPr>
              <a:t>names, keywords, dates, locations, and case-related details</a:t>
            </a:r>
            <a:r>
              <a:rPr lang="en-IN" dirty="0">
                <a:latin typeface="Comic Sans MS" panose="030F0702030302020204" pitchFamily="66" charset="0"/>
              </a:rPr>
              <a:t>. </a:t>
            </a:r>
          </a:p>
          <a:p>
            <a:pPr marL="342900" lvl="0" indent="-342900">
              <a:lnSpc>
                <a:spcPct val="150000"/>
              </a:lnSpc>
              <a:buFont typeface="Arial" panose="020B0604020202020204" pitchFamily="34" charset="0"/>
              <a:buChar char="•"/>
            </a:pPr>
            <a:r>
              <a:rPr lang="en-IN" b="1" dirty="0">
                <a:latin typeface="Comic Sans MS" panose="030F0702030302020204" pitchFamily="66" charset="0"/>
              </a:rPr>
              <a:t>OCR Integration</a:t>
            </a:r>
            <a:r>
              <a:rPr lang="en-IN" dirty="0">
                <a:latin typeface="Comic Sans MS" panose="030F0702030302020204" pitchFamily="66" charset="0"/>
              </a:rPr>
              <a:t> – Enable searching within </a:t>
            </a:r>
            <a:r>
              <a:rPr lang="en-IN" b="1" dirty="0">
                <a:latin typeface="Comic Sans MS" panose="030F0702030302020204" pitchFamily="66" charset="0"/>
              </a:rPr>
              <a:t>scanned PDFs and image-based documents</a:t>
            </a:r>
            <a:r>
              <a:rPr lang="en-IN" dirty="0">
                <a:latin typeface="Comic Sans MS" panose="030F0702030302020204" pitchFamily="66" charset="0"/>
              </a:rPr>
              <a:t>. </a:t>
            </a:r>
          </a:p>
          <a:p>
            <a:pPr marL="342900" lvl="0" indent="-342900">
              <a:lnSpc>
                <a:spcPct val="150000"/>
              </a:lnSpc>
              <a:buFont typeface="Arial" panose="020B0604020202020204" pitchFamily="34" charset="0"/>
              <a:buChar char="•"/>
            </a:pPr>
            <a:r>
              <a:rPr lang="en-IN" b="1" dirty="0">
                <a:latin typeface="Comic Sans MS" panose="030F0702030302020204" pitchFamily="66" charset="0"/>
              </a:rPr>
              <a:t>Result Ranking</a:t>
            </a:r>
            <a:r>
              <a:rPr lang="en-IN" dirty="0">
                <a:latin typeface="Comic Sans MS" panose="030F0702030302020204" pitchFamily="66" charset="0"/>
              </a:rPr>
              <a:t> – Display the </a:t>
            </a:r>
            <a:r>
              <a:rPr lang="en-IN" b="1" dirty="0">
                <a:latin typeface="Comic Sans MS" panose="030F0702030302020204" pitchFamily="66" charset="0"/>
              </a:rPr>
              <a:t>most relevant documents first</a:t>
            </a:r>
            <a:r>
              <a:rPr lang="en-IN" dirty="0">
                <a:latin typeface="Comic Sans MS" panose="030F0702030302020204" pitchFamily="66" charset="0"/>
              </a:rPr>
              <a:t>. </a:t>
            </a:r>
          </a:p>
          <a:p>
            <a:pPr marL="342900" lvl="0" indent="-342900">
              <a:lnSpc>
                <a:spcPct val="150000"/>
              </a:lnSpc>
              <a:buFont typeface="Arial" panose="020B0604020202020204" pitchFamily="34" charset="0"/>
              <a:buChar char="•"/>
            </a:pPr>
            <a:r>
              <a:rPr lang="en-IN" b="1" dirty="0">
                <a:latin typeface="Comic Sans MS" panose="030F0702030302020204" pitchFamily="66" charset="0"/>
              </a:rPr>
              <a:t>AI &amp; NLP Search</a:t>
            </a:r>
            <a:r>
              <a:rPr lang="en-IN" dirty="0">
                <a:latin typeface="Comic Sans MS" panose="030F0702030302020204" pitchFamily="66" charset="0"/>
              </a:rPr>
              <a:t> – Support </a:t>
            </a:r>
            <a:r>
              <a:rPr lang="en-IN" b="1" dirty="0">
                <a:latin typeface="Comic Sans MS" panose="030F0702030302020204" pitchFamily="66" charset="0"/>
              </a:rPr>
              <a:t>semantic search</a:t>
            </a:r>
            <a:r>
              <a:rPr lang="en-IN" dirty="0">
                <a:latin typeface="Comic Sans MS" panose="030F0702030302020204" pitchFamily="66" charset="0"/>
              </a:rPr>
              <a:t> to understand the meaning of user queries. </a:t>
            </a:r>
          </a:p>
          <a:p>
            <a:pPr marL="342900" lvl="0" indent="-342900">
              <a:lnSpc>
                <a:spcPct val="150000"/>
              </a:lnSpc>
              <a:buFont typeface="Arial" panose="020B0604020202020204" pitchFamily="34" charset="0"/>
              <a:buChar char="•"/>
            </a:pPr>
            <a:r>
              <a:rPr lang="en-IN" b="1" dirty="0">
                <a:latin typeface="Comic Sans MS" panose="030F0702030302020204" pitchFamily="66" charset="0"/>
              </a:rPr>
              <a:t>Automatic Categorization</a:t>
            </a:r>
            <a:r>
              <a:rPr lang="en-IN" dirty="0">
                <a:latin typeface="Comic Sans MS" panose="030F0702030302020204" pitchFamily="66" charset="0"/>
              </a:rPr>
              <a:t> – Classify documents into categories such as </a:t>
            </a:r>
            <a:r>
              <a:rPr lang="en-IN" b="1" dirty="0">
                <a:latin typeface="Comic Sans MS" panose="030F0702030302020204" pitchFamily="66" charset="0"/>
              </a:rPr>
              <a:t>property, criminal, civil, and agreements</a:t>
            </a:r>
            <a:r>
              <a:rPr lang="en-IN" dirty="0">
                <a:latin typeface="Comic Sans MS" panose="030F0702030302020204" pitchFamily="66" charset="0"/>
              </a:rPr>
              <a:t>. </a:t>
            </a:r>
          </a:p>
          <a:p>
            <a:pPr marL="342900" lvl="0" indent="-342900">
              <a:lnSpc>
                <a:spcPct val="150000"/>
              </a:lnSpc>
              <a:buFont typeface="Arial" panose="020B0604020202020204" pitchFamily="34" charset="0"/>
              <a:buChar char="•"/>
            </a:pPr>
            <a:r>
              <a:rPr lang="en-IN" b="1" dirty="0">
                <a:latin typeface="Comic Sans MS" panose="030F0702030302020204" pitchFamily="66" charset="0"/>
              </a:rPr>
              <a:t>Cloud Storage</a:t>
            </a:r>
            <a:r>
              <a:rPr lang="en-IN" dirty="0">
                <a:latin typeface="Comic Sans MS" panose="030F0702030302020204" pitchFamily="66" charset="0"/>
              </a:rPr>
              <a:t> – Provide </a:t>
            </a:r>
            <a:r>
              <a:rPr lang="en-IN" b="1" dirty="0">
                <a:latin typeface="Comic Sans MS" panose="030F0702030302020204" pitchFamily="66" charset="0"/>
              </a:rPr>
              <a:t>secure access and storage</a:t>
            </a:r>
            <a:r>
              <a:rPr lang="en-IN" dirty="0">
                <a:latin typeface="Comic Sans MS" panose="030F0702030302020204" pitchFamily="66" charset="0"/>
              </a:rPr>
              <a:t> from multiple devices. </a:t>
            </a:r>
          </a:p>
          <a:p>
            <a:pPr marL="342900" lvl="0" indent="-342900">
              <a:lnSpc>
                <a:spcPct val="150000"/>
              </a:lnSpc>
              <a:buFont typeface="Arial" panose="020B0604020202020204" pitchFamily="34" charset="0"/>
              <a:buChar char="•"/>
            </a:pPr>
            <a:r>
              <a:rPr lang="en-IN" b="1" dirty="0">
                <a:latin typeface="Comic Sans MS" panose="030F0702030302020204" pitchFamily="66" charset="0"/>
              </a:rPr>
              <a:t>User Authentication</a:t>
            </a:r>
            <a:r>
              <a:rPr lang="en-IN" dirty="0">
                <a:latin typeface="Comic Sans MS" panose="030F0702030302020204" pitchFamily="66" charset="0"/>
              </a:rPr>
              <a:t> – Add </a:t>
            </a:r>
            <a:r>
              <a:rPr lang="en-IN" b="1" dirty="0">
                <a:latin typeface="Comic Sans MS" panose="030F0702030302020204" pitchFamily="66" charset="0"/>
              </a:rPr>
              <a:t>role-based access control</a:t>
            </a:r>
            <a:r>
              <a:rPr lang="en-IN" dirty="0">
                <a:latin typeface="Comic Sans MS" panose="030F0702030302020204" pitchFamily="66" charset="0"/>
              </a:rPr>
              <a:t> to protect confidential documents.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965</Words>
  <Application>Microsoft Office PowerPoint</Application>
  <PresentationFormat>Widescreen</PresentationFormat>
  <Paragraphs>110</Paragraphs>
  <Slides>13</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13</vt:i4>
      </vt:variant>
    </vt:vector>
  </HeadingPairs>
  <TitlesOfParts>
    <vt:vector size="28" baseType="lpstr">
      <vt:lpstr>Yu Gothic UI Semibold</vt:lpstr>
      <vt:lpstr>Arial</vt:lpstr>
      <vt:lpstr>Arial Black</vt:lpstr>
      <vt:lpstr>Baskerville Old Face</vt:lpstr>
      <vt:lpstr>Calibri</vt:lpstr>
      <vt:lpstr>Comic Sans MS</vt:lpstr>
      <vt:lpstr>Eras Demi ITC</vt:lpstr>
      <vt:lpstr>Lucida Sans Unicode</vt:lpstr>
      <vt:lpstr>Sitka Banner Semibold</vt:lpstr>
      <vt:lpstr>Sitka Small</vt:lpstr>
      <vt:lpstr>Sitka Subheading Semibold</vt:lpstr>
      <vt:lpstr>Tahoma</vt:lpstr>
      <vt:lpstr>Tempus Sans ITC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ALLURU AKSHAYA</cp:lastModifiedBy>
  <cp:revision>23</cp:revision>
  <dcterms:created xsi:type="dcterms:W3CDTF">2024-08-29T05:25:00Z</dcterms:created>
  <dcterms:modified xsi:type="dcterms:W3CDTF">2026-08-29T05:38:36Z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